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2" r:id="rId5"/>
    <p:sldId id="260" r:id="rId6"/>
    <p:sldId id="263" r:id="rId7"/>
    <p:sldId id="264" r:id="rId8"/>
    <p:sldId id="265" r:id="rId9"/>
    <p:sldId id="266" r:id="rId10"/>
    <p:sldId id="267" r:id="rId11"/>
    <p:sldId id="268" r:id="rId12"/>
    <p:sldId id="269"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2634" y="-83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581BB076-F5D1-49B4-BA7A-544B8E41234F}" type="datetimeFigureOut">
              <a:rPr lang="en-US" smtClean="0"/>
              <a:t>6/15/2016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E7899BF-C0E6-4363-854A-5421BD8CC553}" type="slidenum">
              <a:rPr lang="en-US" smtClean="0"/>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81BB076-F5D1-49B4-BA7A-544B8E41234F}" type="datetimeFigureOut">
              <a:rPr lang="en-US" smtClean="0"/>
              <a:t>6/15/2016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2E7899BF-C0E6-4363-854A-5421BD8CC553}" type="slidenum">
              <a:rPr lang="en-US" smtClean="0"/>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581BB076-F5D1-49B4-BA7A-544B8E41234F}" type="datetimeFigureOut">
              <a:rPr lang="en-US" smtClean="0"/>
              <a:t>6/15/2016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E7899BF-C0E6-4363-854A-5421BD8CC553}" type="slidenum">
              <a:rPr lang="en-US" smtClean="0"/>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581BB076-F5D1-49B4-BA7A-544B8E41234F}" type="datetimeFigureOut">
              <a:rPr lang="en-US" smtClean="0"/>
              <a:t>6/15/2016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7899BF-C0E6-4363-854A-5421BD8CC553}" type="slidenum">
              <a:rPr lang="en-US" smtClean="0"/>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581BB076-F5D1-49B4-BA7A-544B8E41234F}" type="datetimeFigureOut">
              <a:rPr lang="en-US" smtClean="0"/>
              <a:t>6/15/2016</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2E7899BF-C0E6-4363-854A-5421BD8CC553}" type="slidenum">
              <a:rPr lang="en-US" smtClean="0"/>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81BB076-F5D1-49B4-BA7A-544B8E41234F}" type="datetimeFigureOut">
              <a:rPr lang="en-US" smtClean="0"/>
              <a:t>6/15/2016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2E7899BF-C0E6-4363-854A-5421BD8CC55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 name="Date Placeholder 1"/>
          <p:cNvSpPr>
            <a:spLocks noGrp="1"/>
          </p:cNvSpPr>
          <p:nvPr>
            <p:ph type="dt" sz="half" idx="10"/>
          </p:nvPr>
        </p:nvSpPr>
        <p:spPr/>
        <p:txBody>
          <a:bodyPr/>
          <a:lstStyle/>
          <a:p>
            <a:fld id="{581BB076-F5D1-49B4-BA7A-544B8E41234F}" type="datetimeFigureOut">
              <a:rPr lang="en-US" smtClean="0"/>
              <a:t>6/15/2016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E7899BF-C0E6-4363-854A-5421BD8CC55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E7899BF-C0E6-4363-854A-5421BD8CC553}" type="slidenum">
              <a:rPr lang="en-US" smtClean="0"/>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581BB076-F5D1-49B4-BA7A-544B8E41234F}" type="datetimeFigureOut">
              <a:rPr lang="en-US" smtClean="0"/>
              <a:t>6/15/2016</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2E7899BF-C0E6-4363-854A-5421BD8CC553}" type="slidenum">
              <a:rPr lang="en-US" smtClean="0"/>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581BB076-F5D1-49B4-BA7A-544B8E41234F}" type="datetimeFigureOut">
              <a:rPr lang="en-US" smtClean="0"/>
              <a:t>6/15/2016</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81BB076-F5D1-49B4-BA7A-544B8E41234F}" type="datetimeFigureOut">
              <a:rPr lang="en-US" smtClean="0"/>
              <a:t>6/15/2016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7899BF-C0E6-4363-854A-5421BD8CC553}"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2E7899BF-C0E6-4363-854A-5421BD8CC553}" type="slidenum">
              <a:rPr lang="en-US" smtClean="0"/>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81BB076-F5D1-49B4-BA7A-544B8E41234F}" type="datetimeFigureOut">
              <a:rPr lang="en-US" smtClean="0"/>
              <a:t>6/15/2016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581BB076-F5D1-49B4-BA7A-544B8E41234F}" type="datetimeFigureOut">
              <a:rPr lang="en-US" smtClean="0"/>
              <a:t>6/15/2016</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2E7899BF-C0E6-4363-854A-5421BD8CC553}" type="slidenum">
              <a:rPr lang="en-US" smtClean="0"/>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smtClean="0">
                <a:solidFill>
                  <a:srgbClr val="0070C0"/>
                </a:solidFill>
                <a:latin typeface="Verdana" pitchFamily="34" charset="0"/>
                <a:ea typeface="Verdana" pitchFamily="34" charset="0"/>
                <a:cs typeface="Verdana" pitchFamily="34" charset="0"/>
              </a:rPr>
              <a:t>Seminar </a:t>
            </a:r>
            <a:r>
              <a:rPr lang="en-US" err="1" smtClean="0">
                <a:solidFill>
                  <a:srgbClr val="0070C0"/>
                </a:solidFill>
                <a:latin typeface="Verdana" pitchFamily="34" charset="0"/>
                <a:ea typeface="Verdana" pitchFamily="34" charset="0"/>
                <a:cs typeface="Verdana" pitchFamily="34" charset="0"/>
              </a:rPr>
              <a:t>giới</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thiệu</a:t>
            </a:r>
            <a:r>
              <a:rPr lang="en-US">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khái</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niệm</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và</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cách</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sử</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dụng</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ngôn</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ngữ</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lập</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trình</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hướng</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đối</a:t>
            </a:r>
            <a:r>
              <a:rPr lang="en-US" smtClean="0">
                <a:solidFill>
                  <a:srgbClr val="0070C0"/>
                </a:solidFill>
                <a:latin typeface="Verdana" pitchFamily="34" charset="0"/>
                <a:ea typeface="Verdana" pitchFamily="34" charset="0"/>
                <a:cs typeface="Verdana" pitchFamily="34" charset="0"/>
              </a:rPr>
              <a:t> </a:t>
            </a:r>
            <a:r>
              <a:rPr lang="en-US" err="1" smtClean="0">
                <a:solidFill>
                  <a:srgbClr val="0070C0"/>
                </a:solidFill>
                <a:latin typeface="Verdana" pitchFamily="34" charset="0"/>
                <a:ea typeface="Verdana" pitchFamily="34" charset="0"/>
                <a:cs typeface="Verdana" pitchFamily="34" charset="0"/>
              </a:rPr>
              <a:t>tượng</a:t>
            </a:r>
            <a:r>
              <a:rPr lang="en-US" smtClean="0">
                <a:solidFill>
                  <a:srgbClr val="0070C0"/>
                </a:solidFill>
                <a:latin typeface="Verdana" pitchFamily="34" charset="0"/>
                <a:ea typeface="Verdana" pitchFamily="34" charset="0"/>
                <a:cs typeface="Verdana" pitchFamily="34" charset="0"/>
              </a:rPr>
              <a:t>.</a:t>
            </a:r>
          </a:p>
          <a:p>
            <a:pPr algn="l"/>
            <a:r>
              <a:rPr lang="en-US" u="sng" err="1" smtClean="0">
                <a:latin typeface="Verdana" pitchFamily="34" charset="0"/>
                <a:ea typeface="Verdana" pitchFamily="34" charset="0"/>
                <a:cs typeface="Verdana" pitchFamily="34" charset="0"/>
              </a:rPr>
              <a:t>Thời</a:t>
            </a:r>
            <a:r>
              <a:rPr lang="en-US" u="sng" smtClean="0">
                <a:latin typeface="Verdana" pitchFamily="34" charset="0"/>
                <a:ea typeface="Verdana" pitchFamily="34" charset="0"/>
                <a:cs typeface="Verdana" pitchFamily="34" charset="0"/>
              </a:rPr>
              <a:t> </a:t>
            </a:r>
            <a:r>
              <a:rPr lang="en-US" u="sng" err="1" smtClean="0">
                <a:latin typeface="Verdana" pitchFamily="34" charset="0"/>
                <a:ea typeface="Verdana" pitchFamily="34" charset="0"/>
                <a:cs typeface="Verdana" pitchFamily="34" charset="0"/>
              </a:rPr>
              <a:t>gian</a:t>
            </a:r>
            <a:endParaRPr lang="en-US" u="sng" smtClean="0">
              <a:latin typeface="Verdana" pitchFamily="34" charset="0"/>
              <a:ea typeface="Verdana" pitchFamily="34" charset="0"/>
              <a:cs typeface="Verdana" pitchFamily="34" charset="0"/>
            </a:endParaRPr>
          </a:p>
          <a:p>
            <a:pPr algn="l"/>
            <a:r>
              <a:rPr lang="en-US" err="1" smtClean="0">
                <a:latin typeface="Verdana" pitchFamily="34" charset="0"/>
                <a:ea typeface="Verdana" pitchFamily="34" charset="0"/>
                <a:cs typeface="Verdana" pitchFamily="34" charset="0"/>
              </a:rPr>
              <a:t>Thuyết</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trình</a:t>
            </a:r>
            <a:r>
              <a:rPr lang="en-US" smtClean="0">
                <a:latin typeface="Verdana" pitchFamily="34" charset="0"/>
                <a:ea typeface="Verdana" pitchFamily="34" charset="0"/>
                <a:cs typeface="Verdana" pitchFamily="34" charset="0"/>
              </a:rPr>
              <a:t>: </a:t>
            </a:r>
            <a:r>
              <a:rPr lang="en-US" smtClean="0">
                <a:solidFill>
                  <a:srgbClr val="FF0000"/>
                </a:solidFill>
                <a:latin typeface="Verdana" pitchFamily="34" charset="0"/>
                <a:ea typeface="Verdana" pitchFamily="34" charset="0"/>
                <a:cs typeface="Verdana" pitchFamily="34" charset="0"/>
              </a:rPr>
              <a:t>30 </a:t>
            </a:r>
            <a:r>
              <a:rPr lang="en-US" err="1" smtClean="0">
                <a:solidFill>
                  <a:srgbClr val="FF0000"/>
                </a:solidFill>
                <a:latin typeface="Verdana" pitchFamily="34" charset="0"/>
                <a:ea typeface="Verdana" pitchFamily="34" charset="0"/>
                <a:cs typeface="Verdana" pitchFamily="34" charset="0"/>
              </a:rPr>
              <a:t>phút</a:t>
            </a:r>
            <a:endParaRPr lang="en-US" smtClean="0">
              <a:solidFill>
                <a:srgbClr val="FF0000"/>
              </a:solidFill>
              <a:latin typeface="Verdana" pitchFamily="34" charset="0"/>
              <a:ea typeface="Verdana" pitchFamily="34" charset="0"/>
              <a:cs typeface="Verdana" pitchFamily="34" charset="0"/>
            </a:endParaRPr>
          </a:p>
          <a:p>
            <a:pPr algn="l"/>
            <a:r>
              <a:rPr lang="en-US" err="1" smtClean="0">
                <a:latin typeface="Verdana" pitchFamily="34" charset="0"/>
                <a:ea typeface="Verdana" pitchFamily="34" charset="0"/>
                <a:cs typeface="Verdana" pitchFamily="34" charset="0"/>
              </a:rPr>
              <a:t>Thảo</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luận</a:t>
            </a:r>
            <a:r>
              <a:rPr lang="en-US" smtClean="0">
                <a:latin typeface="Verdana" pitchFamily="34" charset="0"/>
                <a:ea typeface="Verdana" pitchFamily="34" charset="0"/>
                <a:cs typeface="Verdana" pitchFamily="34" charset="0"/>
              </a:rPr>
              <a:t>: </a:t>
            </a:r>
            <a:r>
              <a:rPr lang="en-US" smtClean="0">
                <a:solidFill>
                  <a:srgbClr val="FF0000"/>
                </a:solidFill>
                <a:latin typeface="Verdana" pitchFamily="34" charset="0"/>
                <a:ea typeface="Verdana" pitchFamily="34" charset="0"/>
                <a:cs typeface="Verdana" pitchFamily="34" charset="0"/>
              </a:rPr>
              <a:t>45 </a:t>
            </a:r>
            <a:r>
              <a:rPr lang="en-US" err="1" smtClean="0">
                <a:solidFill>
                  <a:srgbClr val="FF0000"/>
                </a:solidFill>
                <a:latin typeface="Verdana" pitchFamily="34" charset="0"/>
                <a:ea typeface="Verdana" pitchFamily="34" charset="0"/>
                <a:cs typeface="Verdana" pitchFamily="34" charset="0"/>
              </a:rPr>
              <a:t>phút</a:t>
            </a:r>
            <a:endParaRPr lang="en-US" smtClean="0">
              <a:solidFill>
                <a:srgbClr val="FF0000"/>
              </a:solidFill>
              <a:latin typeface="Verdana" pitchFamily="34" charset="0"/>
              <a:ea typeface="Verdana" pitchFamily="34" charset="0"/>
              <a:cs typeface="Verdana" pitchFamily="34" charset="0"/>
            </a:endParaRPr>
          </a:p>
          <a:p>
            <a:endParaRPr lang="en-US">
              <a:latin typeface="Verdana" pitchFamily="34" charset="0"/>
              <a:ea typeface="Verdana" pitchFamily="34" charset="0"/>
              <a:cs typeface="Verdana" pitchFamily="34" charset="0"/>
            </a:endParaRPr>
          </a:p>
        </p:txBody>
      </p:sp>
      <p:sp>
        <p:nvSpPr>
          <p:cNvPr id="2" name="Title 1"/>
          <p:cNvSpPr>
            <a:spLocks noGrp="1"/>
          </p:cNvSpPr>
          <p:nvPr>
            <p:ph type="ctrTitle"/>
          </p:nvPr>
        </p:nvSpPr>
        <p:spPr/>
        <p:txBody>
          <a:bodyPr>
            <a:normAutofit fontScale="90000"/>
          </a:bodyPr>
          <a:lstStyle/>
          <a:p>
            <a:r>
              <a:rPr lang="en-US" err="1" smtClean="0">
                <a:latin typeface="Verdana" pitchFamily="34" charset="0"/>
                <a:ea typeface="Verdana" pitchFamily="34" charset="0"/>
                <a:cs typeface="Verdana" pitchFamily="34" charset="0"/>
              </a:rPr>
              <a:t>Lập</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trình</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hướng</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đối</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tượng</a:t>
            </a:r>
            <a:r>
              <a:rPr lang="en-US">
                <a:latin typeface="Verdana" pitchFamily="34" charset="0"/>
                <a:ea typeface="Verdana" pitchFamily="34" charset="0"/>
                <a:cs typeface="Verdana" pitchFamily="34" charset="0"/>
              </a:rPr>
              <a:t> (object-oriented programming)</a:t>
            </a:r>
          </a:p>
        </p:txBody>
      </p:sp>
    </p:spTree>
    <p:extLst>
      <p:ext uri="{BB962C8B-B14F-4D97-AF65-F5344CB8AC3E}">
        <p14:creationId xmlns:p14="http://schemas.microsoft.com/office/powerpoint/2010/main" val="27576837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solidFill>
                  <a:srgbClr val="C00000"/>
                </a:solidFill>
                <a:latin typeface="Verdana" pitchFamily="34" charset="0"/>
                <a:ea typeface="Verdana" pitchFamily="34" charset="0"/>
                <a:cs typeface="Verdana" pitchFamily="34" charset="0"/>
              </a:rPr>
              <a:t>Tóm</a:t>
            </a:r>
            <a:r>
              <a:rPr lang="en-US" smtClean="0">
                <a:solidFill>
                  <a:srgbClr val="C00000"/>
                </a:solidFill>
                <a:latin typeface="Verdana" pitchFamily="34" charset="0"/>
                <a:ea typeface="Verdana" pitchFamily="34" charset="0"/>
                <a:cs typeface="Verdana" pitchFamily="34" charset="0"/>
              </a:rPr>
              <a:t> </a:t>
            </a:r>
            <a:r>
              <a:rPr lang="en-US" err="1" smtClean="0">
                <a:solidFill>
                  <a:srgbClr val="C00000"/>
                </a:solidFill>
                <a:latin typeface="Verdana" pitchFamily="34" charset="0"/>
                <a:ea typeface="Verdana" pitchFamily="34" charset="0"/>
                <a:cs typeface="Verdana" pitchFamily="34" charset="0"/>
              </a:rPr>
              <a:t>tắt</a:t>
            </a:r>
            <a:r>
              <a:rPr lang="en-US" smtClean="0">
                <a:solidFill>
                  <a:srgbClr val="C00000"/>
                </a:solidFill>
                <a:latin typeface="Verdana" pitchFamily="34" charset="0"/>
                <a:ea typeface="Verdana" pitchFamily="34" charset="0"/>
                <a:cs typeface="Verdana" pitchFamily="34" charset="0"/>
              </a:rPr>
              <a:t> </a:t>
            </a:r>
            <a:r>
              <a:rPr lang="en-US" err="1" smtClean="0">
                <a:solidFill>
                  <a:srgbClr val="C00000"/>
                </a:solidFill>
                <a:latin typeface="Verdana" pitchFamily="34" charset="0"/>
                <a:ea typeface="Verdana" pitchFamily="34" charset="0"/>
                <a:cs typeface="Verdana" pitchFamily="34" charset="0"/>
              </a:rPr>
              <a:t>nội</a:t>
            </a:r>
            <a:r>
              <a:rPr lang="en-US" smtClean="0">
                <a:solidFill>
                  <a:srgbClr val="C00000"/>
                </a:solidFill>
                <a:latin typeface="Verdana" pitchFamily="34" charset="0"/>
                <a:ea typeface="Verdana" pitchFamily="34" charset="0"/>
                <a:cs typeface="Verdana" pitchFamily="34" charset="0"/>
              </a:rPr>
              <a:t> dung</a:t>
            </a:r>
            <a:endParaRPr lang="en-US">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lstStyle/>
          <a:p>
            <a:pPr marL="514350" indent="-514350">
              <a:buFont typeface="+mj-lt"/>
              <a:buAutoNum type="arabicPeriod"/>
            </a:pPr>
            <a:r>
              <a:rPr lang="en-US" err="1" smtClean="0">
                <a:latin typeface="Verdana" pitchFamily="34" charset="0"/>
                <a:ea typeface="Verdana" pitchFamily="34" charset="0"/>
                <a:cs typeface="Verdana" pitchFamily="34" charset="0"/>
              </a:rPr>
              <a:t>Khái</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niệm</a:t>
            </a:r>
            <a:endParaRPr lang="en-US" smtClean="0">
              <a:latin typeface="Verdana" pitchFamily="34" charset="0"/>
              <a:ea typeface="Verdana" pitchFamily="34" charset="0"/>
              <a:cs typeface="Verdana" pitchFamily="34" charset="0"/>
            </a:endParaRPr>
          </a:p>
          <a:p>
            <a:pPr marL="514350" indent="-514350">
              <a:buFont typeface="+mj-lt"/>
              <a:buAutoNum type="arabicPeriod"/>
            </a:pPr>
            <a:endParaRPr lang="en-US" smtClean="0">
              <a:latin typeface="Verdana" pitchFamily="34" charset="0"/>
              <a:ea typeface="Verdana" pitchFamily="34" charset="0"/>
              <a:cs typeface="Verdana" pitchFamily="34" charset="0"/>
            </a:endParaRPr>
          </a:p>
          <a:p>
            <a:pPr marL="514350" indent="-514350">
              <a:buFont typeface="+mj-lt"/>
              <a:buAutoNum type="arabicPeriod"/>
            </a:pPr>
            <a:r>
              <a:rPr lang="en-US" err="1" smtClean="0">
                <a:latin typeface="Verdana" pitchFamily="34" charset="0"/>
                <a:ea typeface="Verdana" pitchFamily="34" charset="0"/>
                <a:cs typeface="Verdana" pitchFamily="34" charset="0"/>
              </a:rPr>
              <a:t>Các</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tính</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chất</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cơ</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bản</a:t>
            </a:r>
            <a:endParaRPr lang="en-US" smtClean="0">
              <a:latin typeface="Verdana" pitchFamily="34" charset="0"/>
              <a:ea typeface="Verdana" pitchFamily="34" charset="0"/>
              <a:cs typeface="Verdana" pitchFamily="34" charset="0"/>
            </a:endParaRPr>
          </a:p>
          <a:p>
            <a:pPr marL="514350" indent="-514350">
              <a:buFont typeface="+mj-lt"/>
              <a:buAutoNum type="arabicPeriod"/>
            </a:pPr>
            <a:endParaRPr lang="en-US" smtClean="0">
              <a:latin typeface="Verdana" pitchFamily="34" charset="0"/>
              <a:ea typeface="Verdana" pitchFamily="34" charset="0"/>
              <a:cs typeface="Verdana" pitchFamily="34" charset="0"/>
            </a:endParaRPr>
          </a:p>
          <a:p>
            <a:pPr marL="514350" indent="-514350">
              <a:buFont typeface="+mj-lt"/>
              <a:buAutoNum type="arabicPeriod"/>
            </a:pPr>
            <a:r>
              <a:rPr lang="vi-VN">
                <a:latin typeface="Verdana" pitchFamily="34" charset="0"/>
                <a:ea typeface="Verdana" pitchFamily="34" charset="0"/>
                <a:cs typeface="Verdana" pitchFamily="34" charset="0"/>
              </a:rPr>
              <a:t>Một số khái niệm cần biết trong ngôn ngữ OOP hiện </a:t>
            </a:r>
            <a:r>
              <a:rPr lang="vi-VN" smtClean="0">
                <a:latin typeface="Verdana" pitchFamily="34" charset="0"/>
                <a:ea typeface="Verdana" pitchFamily="34" charset="0"/>
                <a:cs typeface="Verdana" pitchFamily="34" charset="0"/>
              </a:rPr>
              <a:t>đại</a:t>
            </a:r>
            <a:endParaRPr lang="en-US" smtClean="0">
              <a:latin typeface="Verdana" pitchFamily="34" charset="0"/>
              <a:ea typeface="Verdana" pitchFamily="34" charset="0"/>
              <a:cs typeface="Verdana" pitchFamily="34" charset="0"/>
            </a:endParaRPr>
          </a:p>
          <a:p>
            <a:pPr marL="514350" indent="-514350">
              <a:buFont typeface="+mj-lt"/>
              <a:buAutoNum type="arabicPeriod"/>
            </a:pPr>
            <a:endParaRPr lang="en-US" smtClean="0">
              <a:latin typeface="Verdana" pitchFamily="34" charset="0"/>
              <a:ea typeface="Verdana" pitchFamily="34" charset="0"/>
              <a:cs typeface="Verdana" pitchFamily="34" charset="0"/>
            </a:endParaRPr>
          </a:p>
          <a:p>
            <a:pPr marL="514350" indent="-514350">
              <a:buFont typeface="+mj-lt"/>
              <a:buAutoNum type="arabicPeriod"/>
            </a:pPr>
            <a:r>
              <a:rPr lang="en-US" err="1" smtClean="0">
                <a:latin typeface="Verdana" pitchFamily="34" charset="0"/>
                <a:ea typeface="Verdana" pitchFamily="34" charset="0"/>
                <a:cs typeface="Verdana" pitchFamily="34" charset="0"/>
              </a:rPr>
              <a:t>Các</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ngôn</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ngữ</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lập</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trình</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hướng</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đối</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tượng</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thường</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dùng</a:t>
            </a:r>
            <a:r>
              <a:rPr lang="en-US" smtClean="0">
                <a:latin typeface="Verdana" pitchFamily="34" charset="0"/>
                <a:ea typeface="Verdana" pitchFamily="34" charset="0"/>
                <a:cs typeface="Verdana" pitchFamily="34" charset="0"/>
              </a:rPr>
              <a:t> </a:t>
            </a:r>
            <a:r>
              <a:rPr lang="en-US" err="1" smtClean="0">
                <a:latin typeface="Verdana" pitchFamily="34" charset="0"/>
                <a:ea typeface="Verdana" pitchFamily="34" charset="0"/>
                <a:cs typeface="Verdana" pitchFamily="34" charset="0"/>
              </a:rPr>
              <a:t>hiện</a:t>
            </a:r>
            <a:r>
              <a:rPr lang="en-US" smtClean="0">
                <a:latin typeface="Verdana" pitchFamily="34" charset="0"/>
                <a:ea typeface="Verdana" pitchFamily="34" charset="0"/>
                <a:cs typeface="Verdana" pitchFamily="34" charset="0"/>
              </a:rPr>
              <a:t> nay</a:t>
            </a:r>
          </a:p>
          <a:p>
            <a:endParaRPr lang="en-US" smtClean="0">
              <a:latin typeface="Verdana" pitchFamily="34" charset="0"/>
              <a:ea typeface="Verdana" pitchFamily="34" charset="0"/>
              <a:cs typeface="Verdana" pitchFamily="34" charset="0"/>
            </a:endParaRPr>
          </a:p>
          <a:p>
            <a:pPr marL="0" indent="0">
              <a:buNone/>
            </a:pPr>
            <a:endParaRPr lang="en-US">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3265613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solidFill>
                  <a:srgbClr val="C00000"/>
                </a:solidFill>
                <a:latin typeface="Verdana" pitchFamily="34" charset="0"/>
                <a:ea typeface="Verdana" pitchFamily="34" charset="0"/>
                <a:cs typeface="Verdana" pitchFamily="34" charset="0"/>
              </a:rPr>
              <a:t>Khái</a:t>
            </a:r>
            <a:r>
              <a:rPr lang="en-US" smtClean="0">
                <a:solidFill>
                  <a:srgbClr val="C00000"/>
                </a:solidFill>
                <a:latin typeface="Verdana" pitchFamily="34" charset="0"/>
                <a:ea typeface="Verdana" pitchFamily="34" charset="0"/>
                <a:cs typeface="Verdana" pitchFamily="34" charset="0"/>
              </a:rPr>
              <a:t> </a:t>
            </a:r>
            <a:r>
              <a:rPr lang="en-US" err="1" smtClean="0">
                <a:solidFill>
                  <a:srgbClr val="C00000"/>
                </a:solidFill>
                <a:latin typeface="Verdana" pitchFamily="34" charset="0"/>
                <a:ea typeface="Verdana" pitchFamily="34" charset="0"/>
                <a:cs typeface="Verdana" pitchFamily="34" charset="0"/>
              </a:rPr>
              <a:t>niệm</a:t>
            </a:r>
            <a:endParaRPr lang="en-US">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normAutofit lnSpcReduction="10000"/>
          </a:bodyPr>
          <a:lstStyle/>
          <a:p>
            <a:r>
              <a:rPr lang="vi-VN" sz="2400">
                <a:latin typeface="Verdana" pitchFamily="34" charset="0"/>
                <a:ea typeface="Verdana" pitchFamily="34" charset="0"/>
                <a:cs typeface="Verdana" pitchFamily="34" charset="0"/>
              </a:rPr>
              <a:t>OOP là kĩ thuật lập trình hỗ trợ công nghệ </a:t>
            </a:r>
            <a:r>
              <a:rPr lang="vi-VN" sz="2400" b="1">
                <a:latin typeface="Verdana" pitchFamily="34" charset="0"/>
                <a:ea typeface="Verdana" pitchFamily="34" charset="0"/>
                <a:cs typeface="Verdana" pitchFamily="34" charset="0"/>
              </a:rPr>
              <a:t>đối </a:t>
            </a:r>
            <a:r>
              <a:rPr lang="vi-VN" sz="2400" b="1" smtClean="0">
                <a:latin typeface="Verdana" pitchFamily="34" charset="0"/>
                <a:ea typeface="Verdana" pitchFamily="34" charset="0"/>
                <a:cs typeface="Verdana" pitchFamily="34" charset="0"/>
              </a:rPr>
              <a:t>tượng</a:t>
            </a:r>
            <a:r>
              <a:rPr lang="en-US" sz="2400" b="1" smtClean="0">
                <a:latin typeface="Verdana" pitchFamily="34" charset="0"/>
                <a:ea typeface="Verdana" pitchFamily="34" charset="0"/>
                <a:cs typeface="Verdana" pitchFamily="34" charset="0"/>
              </a:rPr>
              <a:t>.</a:t>
            </a:r>
          </a:p>
          <a:p>
            <a:r>
              <a:rPr lang="vi-VN" sz="2400">
                <a:latin typeface="Verdana" pitchFamily="34" charset="0"/>
                <a:ea typeface="Verdana" pitchFamily="34" charset="0"/>
                <a:cs typeface="Verdana" pitchFamily="34" charset="0"/>
              </a:rPr>
              <a:t>Giúp </a:t>
            </a:r>
            <a:r>
              <a:rPr lang="vi-VN" sz="2400" b="1">
                <a:latin typeface="Verdana" pitchFamily="34" charset="0"/>
                <a:ea typeface="Verdana" pitchFamily="34" charset="0"/>
                <a:cs typeface="Verdana" pitchFamily="34" charset="0"/>
              </a:rPr>
              <a:t>tăng năng suất</a:t>
            </a:r>
            <a:r>
              <a:rPr lang="vi-VN" sz="2400">
                <a:latin typeface="Verdana" pitchFamily="34" charset="0"/>
                <a:ea typeface="Verdana" pitchFamily="34" charset="0"/>
                <a:cs typeface="Verdana" pitchFamily="34" charset="0"/>
              </a:rPr>
              <a:t>, </a:t>
            </a:r>
            <a:r>
              <a:rPr lang="vi-VN" sz="2400" b="1">
                <a:latin typeface="Verdana" pitchFamily="34" charset="0"/>
                <a:ea typeface="Verdana" pitchFamily="34" charset="0"/>
                <a:cs typeface="Verdana" pitchFamily="34" charset="0"/>
              </a:rPr>
              <a:t>đơn giản hóa độ phức tạp </a:t>
            </a:r>
            <a:r>
              <a:rPr lang="vi-VN" sz="2400">
                <a:latin typeface="Verdana" pitchFamily="34" charset="0"/>
                <a:ea typeface="Verdana" pitchFamily="34" charset="0"/>
                <a:cs typeface="Verdana" pitchFamily="34" charset="0"/>
              </a:rPr>
              <a:t>khi bảo trì cũng như mở rộng phần mềm bằng cách cho phép lập trình viên tập trung vào các đối tượng phần mềm </a:t>
            </a:r>
            <a:r>
              <a:rPr lang="vi-VN" sz="2400" b="1">
                <a:latin typeface="Verdana" pitchFamily="34" charset="0"/>
                <a:ea typeface="Verdana" pitchFamily="34" charset="0"/>
                <a:cs typeface="Verdana" pitchFamily="34" charset="0"/>
              </a:rPr>
              <a:t>ở bậc cao </a:t>
            </a:r>
            <a:r>
              <a:rPr lang="vi-VN" sz="2400" b="1" smtClean="0">
                <a:latin typeface="Verdana" pitchFamily="34" charset="0"/>
                <a:ea typeface="Verdana" pitchFamily="34" charset="0"/>
                <a:cs typeface="Verdana" pitchFamily="34" charset="0"/>
              </a:rPr>
              <a:t>hơn</a:t>
            </a:r>
            <a:r>
              <a:rPr lang="en-US" sz="2400" b="1" smtClean="0">
                <a:latin typeface="Verdana" pitchFamily="34" charset="0"/>
                <a:ea typeface="Verdana" pitchFamily="34" charset="0"/>
                <a:cs typeface="Verdana" pitchFamily="34" charset="0"/>
              </a:rPr>
              <a:t>.</a:t>
            </a:r>
          </a:p>
          <a:p>
            <a:r>
              <a:rPr lang="vi-VN" sz="2400">
                <a:latin typeface="Verdana" pitchFamily="34" charset="0"/>
                <a:ea typeface="Verdana" pitchFamily="34" charset="0"/>
                <a:cs typeface="Verdana" pitchFamily="34" charset="0"/>
              </a:rPr>
              <a:t>Một cách giản lược, đây là khái niệm và là một nỗ lực nhằm </a:t>
            </a:r>
            <a:r>
              <a:rPr lang="vi-VN" sz="2400" b="1">
                <a:latin typeface="Verdana" pitchFamily="34" charset="0"/>
                <a:ea typeface="Verdana" pitchFamily="34" charset="0"/>
                <a:cs typeface="Verdana" pitchFamily="34" charset="0"/>
              </a:rPr>
              <a:t>giảm nhẹ các thao tác viết mã </a:t>
            </a:r>
            <a:r>
              <a:rPr lang="vi-VN" sz="2400">
                <a:latin typeface="Verdana" pitchFamily="34" charset="0"/>
                <a:ea typeface="Verdana" pitchFamily="34" charset="0"/>
                <a:cs typeface="Verdana" pitchFamily="34" charset="0"/>
              </a:rPr>
              <a:t>cho người lập trình, cho phép họ tạo ra các ứng dụng mà các yếu tố bên ngoài có thể tương tác với các chương trình đó </a:t>
            </a:r>
            <a:r>
              <a:rPr lang="vi-VN" sz="2400" b="1">
                <a:latin typeface="Verdana" pitchFamily="34" charset="0"/>
                <a:ea typeface="Verdana" pitchFamily="34" charset="0"/>
                <a:cs typeface="Verdana" pitchFamily="34" charset="0"/>
              </a:rPr>
              <a:t>giống như là tương tác với các đối tượng vật lý.</a:t>
            </a:r>
            <a:endParaRPr lang="en-US" sz="2400" b="1">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16160189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solidFill>
                  <a:srgbClr val="C00000"/>
                </a:solidFill>
                <a:latin typeface="Verdana" pitchFamily="34" charset="0"/>
                <a:ea typeface="Verdana" pitchFamily="34" charset="0"/>
                <a:cs typeface="Verdana" pitchFamily="34" charset="0"/>
              </a:rPr>
              <a:t>Các</a:t>
            </a:r>
            <a:r>
              <a:rPr lang="en-US" smtClean="0">
                <a:solidFill>
                  <a:srgbClr val="C00000"/>
                </a:solidFill>
                <a:latin typeface="Verdana" pitchFamily="34" charset="0"/>
                <a:ea typeface="Verdana" pitchFamily="34" charset="0"/>
                <a:cs typeface="Verdana" pitchFamily="34" charset="0"/>
              </a:rPr>
              <a:t> </a:t>
            </a:r>
            <a:r>
              <a:rPr lang="en-US" err="1" smtClean="0">
                <a:solidFill>
                  <a:srgbClr val="C00000"/>
                </a:solidFill>
                <a:latin typeface="Verdana" pitchFamily="34" charset="0"/>
                <a:ea typeface="Verdana" pitchFamily="34" charset="0"/>
                <a:cs typeface="Verdana" pitchFamily="34" charset="0"/>
              </a:rPr>
              <a:t>tính</a:t>
            </a:r>
            <a:r>
              <a:rPr lang="en-US" smtClean="0">
                <a:solidFill>
                  <a:srgbClr val="C00000"/>
                </a:solidFill>
                <a:latin typeface="Verdana" pitchFamily="34" charset="0"/>
                <a:ea typeface="Verdana" pitchFamily="34" charset="0"/>
                <a:cs typeface="Verdana" pitchFamily="34" charset="0"/>
              </a:rPr>
              <a:t> </a:t>
            </a:r>
            <a:r>
              <a:rPr lang="en-US" err="1" smtClean="0">
                <a:solidFill>
                  <a:srgbClr val="C00000"/>
                </a:solidFill>
                <a:latin typeface="Verdana" pitchFamily="34" charset="0"/>
                <a:ea typeface="Verdana" pitchFamily="34" charset="0"/>
                <a:cs typeface="Verdana" pitchFamily="34" charset="0"/>
              </a:rPr>
              <a:t>chất</a:t>
            </a:r>
            <a:r>
              <a:rPr lang="en-US" smtClean="0">
                <a:solidFill>
                  <a:srgbClr val="C00000"/>
                </a:solidFill>
                <a:latin typeface="Verdana" pitchFamily="34" charset="0"/>
                <a:ea typeface="Verdana" pitchFamily="34" charset="0"/>
                <a:cs typeface="Verdana" pitchFamily="34" charset="0"/>
              </a:rPr>
              <a:t> </a:t>
            </a:r>
            <a:r>
              <a:rPr lang="en-US" err="1" smtClean="0">
                <a:solidFill>
                  <a:srgbClr val="C00000"/>
                </a:solidFill>
                <a:latin typeface="Verdana" pitchFamily="34" charset="0"/>
                <a:ea typeface="Verdana" pitchFamily="34" charset="0"/>
                <a:cs typeface="Verdana" pitchFamily="34" charset="0"/>
              </a:rPr>
              <a:t>cơ</a:t>
            </a:r>
            <a:r>
              <a:rPr lang="en-US" smtClean="0">
                <a:solidFill>
                  <a:srgbClr val="C00000"/>
                </a:solidFill>
                <a:latin typeface="Verdana" pitchFamily="34" charset="0"/>
                <a:ea typeface="Verdana" pitchFamily="34" charset="0"/>
                <a:cs typeface="Verdana" pitchFamily="34" charset="0"/>
              </a:rPr>
              <a:t> </a:t>
            </a:r>
            <a:r>
              <a:rPr lang="en-US" err="1" smtClean="0">
                <a:solidFill>
                  <a:srgbClr val="C00000"/>
                </a:solidFill>
                <a:latin typeface="Verdana" pitchFamily="34" charset="0"/>
                <a:ea typeface="Verdana" pitchFamily="34" charset="0"/>
                <a:cs typeface="Verdana" pitchFamily="34" charset="0"/>
              </a:rPr>
              <a:t>bản</a:t>
            </a:r>
            <a:endParaRPr lang="en-US">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lstStyle/>
          <a:p>
            <a:pPr marL="0" indent="0">
              <a:buNone/>
            </a:pPr>
            <a:r>
              <a:rPr lang="vi-VN">
                <a:latin typeface="Verdana" pitchFamily="34" charset="0"/>
                <a:ea typeface="Verdana" pitchFamily="34" charset="0"/>
                <a:cs typeface="Verdana" pitchFamily="34" charset="0"/>
              </a:rPr>
              <a:t>Lập trình hướng đối tượng là một phương pháp lập trình có 4 tính chất chính sau</a:t>
            </a:r>
            <a:r>
              <a:rPr lang="vi-VN" smtClean="0">
                <a:latin typeface="Verdana" pitchFamily="34" charset="0"/>
                <a:ea typeface="Verdana" pitchFamily="34" charset="0"/>
                <a:cs typeface="Verdana" pitchFamily="34" charset="0"/>
              </a:rPr>
              <a:t>:</a:t>
            </a:r>
            <a:endParaRPr lang="en-US" smtClean="0">
              <a:latin typeface="Verdana" pitchFamily="34" charset="0"/>
              <a:ea typeface="Verdana" pitchFamily="34" charset="0"/>
              <a:cs typeface="Verdana" pitchFamily="34" charset="0"/>
            </a:endParaRPr>
          </a:p>
          <a:p>
            <a:pPr marL="0" indent="0">
              <a:buNone/>
            </a:pPr>
            <a:endParaRPr lang="vi-VN">
              <a:latin typeface="Verdana" pitchFamily="34" charset="0"/>
              <a:ea typeface="Verdana" pitchFamily="34" charset="0"/>
              <a:cs typeface="Verdana" pitchFamily="34" charset="0"/>
            </a:endParaRPr>
          </a:p>
          <a:p>
            <a:r>
              <a:rPr lang="vi-VN" sz="2400">
                <a:latin typeface="Verdana" pitchFamily="34" charset="0"/>
                <a:ea typeface="Verdana" pitchFamily="34" charset="0"/>
                <a:cs typeface="Verdana" pitchFamily="34" charset="0"/>
              </a:rPr>
              <a:t>Tính trừu tượng (abstraction</a:t>
            </a:r>
            <a:r>
              <a:rPr lang="vi-VN" sz="2400" smtClean="0">
                <a:latin typeface="Verdana" pitchFamily="34" charset="0"/>
                <a:ea typeface="Verdana" pitchFamily="34" charset="0"/>
                <a:cs typeface="Verdana" pitchFamily="34" charset="0"/>
              </a:rPr>
              <a:t>)</a:t>
            </a:r>
            <a:endParaRPr lang="en-US" sz="2400" smtClean="0">
              <a:latin typeface="Verdana" pitchFamily="34" charset="0"/>
              <a:ea typeface="Verdana" pitchFamily="34" charset="0"/>
              <a:cs typeface="Verdana" pitchFamily="34" charset="0"/>
            </a:endParaRPr>
          </a:p>
          <a:p>
            <a:endParaRPr lang="vi-VN" sz="2400">
              <a:latin typeface="Verdana" pitchFamily="34" charset="0"/>
              <a:ea typeface="Verdana" pitchFamily="34" charset="0"/>
              <a:cs typeface="Verdana" pitchFamily="34" charset="0"/>
            </a:endParaRPr>
          </a:p>
          <a:p>
            <a:r>
              <a:rPr lang="vi-VN" sz="2400">
                <a:latin typeface="Verdana" pitchFamily="34" charset="0"/>
                <a:ea typeface="Verdana" pitchFamily="34" charset="0"/>
                <a:cs typeface="Verdana" pitchFamily="34" charset="0"/>
              </a:rPr>
              <a:t>Tính đóng gói (encapsulation</a:t>
            </a:r>
            <a:r>
              <a:rPr lang="vi-VN" sz="2400" smtClean="0">
                <a:latin typeface="Verdana" pitchFamily="34" charset="0"/>
                <a:ea typeface="Verdana" pitchFamily="34" charset="0"/>
                <a:cs typeface="Verdana" pitchFamily="34" charset="0"/>
              </a:rPr>
              <a:t>)</a:t>
            </a:r>
            <a:endParaRPr lang="en-US" sz="2400" smtClean="0">
              <a:latin typeface="Verdana" pitchFamily="34" charset="0"/>
              <a:ea typeface="Verdana" pitchFamily="34" charset="0"/>
              <a:cs typeface="Verdana" pitchFamily="34" charset="0"/>
            </a:endParaRPr>
          </a:p>
          <a:p>
            <a:endParaRPr lang="vi-VN" sz="2400">
              <a:latin typeface="Verdana" pitchFamily="34" charset="0"/>
              <a:ea typeface="Verdana" pitchFamily="34" charset="0"/>
              <a:cs typeface="Verdana" pitchFamily="34" charset="0"/>
            </a:endParaRPr>
          </a:p>
          <a:p>
            <a:r>
              <a:rPr lang="vi-VN" sz="2400">
                <a:latin typeface="Verdana" pitchFamily="34" charset="0"/>
                <a:ea typeface="Verdana" pitchFamily="34" charset="0"/>
                <a:cs typeface="Verdana" pitchFamily="34" charset="0"/>
              </a:rPr>
              <a:t>Tính đa hình (polymorphism</a:t>
            </a:r>
            <a:r>
              <a:rPr lang="vi-VN" sz="2400" smtClean="0">
                <a:latin typeface="Verdana" pitchFamily="34" charset="0"/>
                <a:ea typeface="Verdana" pitchFamily="34" charset="0"/>
                <a:cs typeface="Verdana" pitchFamily="34" charset="0"/>
              </a:rPr>
              <a:t>)</a:t>
            </a:r>
            <a:endParaRPr lang="en-US" sz="2400" smtClean="0">
              <a:latin typeface="Verdana" pitchFamily="34" charset="0"/>
              <a:ea typeface="Verdana" pitchFamily="34" charset="0"/>
              <a:cs typeface="Verdana" pitchFamily="34" charset="0"/>
            </a:endParaRPr>
          </a:p>
          <a:p>
            <a:endParaRPr lang="vi-VN" sz="2400">
              <a:latin typeface="Verdana" pitchFamily="34" charset="0"/>
              <a:ea typeface="Verdana" pitchFamily="34" charset="0"/>
              <a:cs typeface="Verdana" pitchFamily="34" charset="0"/>
            </a:endParaRPr>
          </a:p>
          <a:p>
            <a:r>
              <a:rPr lang="vi-VN" sz="2400">
                <a:latin typeface="Verdana" pitchFamily="34" charset="0"/>
                <a:ea typeface="Verdana" pitchFamily="34" charset="0"/>
                <a:cs typeface="Verdana" pitchFamily="34" charset="0"/>
              </a:rPr>
              <a:t>Tính kế thừa (inheritance)</a:t>
            </a:r>
            <a:endParaRPr lang="en-US" sz="240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104364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solidFill>
                  <a:srgbClr val="C00000"/>
                </a:solidFill>
                <a:latin typeface="Verdana" pitchFamily="34" charset="0"/>
                <a:ea typeface="Verdana" pitchFamily="34" charset="0"/>
                <a:cs typeface="Verdana" pitchFamily="34" charset="0"/>
              </a:rPr>
              <a:t>Tính trừu tượng (abstraction)</a:t>
            </a:r>
            <a:endParaRPr lang="en-US">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normAutofit/>
          </a:bodyPr>
          <a:lstStyle/>
          <a:p>
            <a:pPr marL="0" indent="0">
              <a:buNone/>
            </a:pPr>
            <a:r>
              <a:rPr lang="vi-VN" sz="2400" smtClean="0">
                <a:latin typeface="Verdana" pitchFamily="34" charset="0"/>
                <a:ea typeface="Verdana" pitchFamily="34" charset="0"/>
                <a:cs typeface="Verdana" pitchFamily="34" charset="0"/>
              </a:rPr>
              <a:t>Tính </a:t>
            </a:r>
            <a:r>
              <a:rPr lang="vi-VN" sz="2400">
                <a:latin typeface="Verdana" pitchFamily="34" charset="0"/>
                <a:ea typeface="Verdana" pitchFamily="34" charset="0"/>
                <a:cs typeface="Verdana" pitchFamily="34" charset="0"/>
              </a:rPr>
              <a:t>trừu tượng trong thực tế được sử dụng để quản lý mô hình mã nguồn. </a:t>
            </a:r>
            <a:endParaRPr lang="en-US" sz="2400" smtClean="0">
              <a:latin typeface="Verdana" pitchFamily="34" charset="0"/>
              <a:ea typeface="Verdana" pitchFamily="34" charset="0"/>
              <a:cs typeface="Verdana" pitchFamily="34" charset="0"/>
            </a:endParaRPr>
          </a:p>
          <a:p>
            <a:pPr marL="0" indent="0">
              <a:buNone/>
            </a:pPr>
            <a:endParaRPr lang="en-US" sz="2400" smtClean="0">
              <a:latin typeface="Verdana" pitchFamily="34" charset="0"/>
              <a:ea typeface="Verdana" pitchFamily="34" charset="0"/>
              <a:cs typeface="Verdana" pitchFamily="34" charset="0"/>
            </a:endParaRPr>
          </a:p>
          <a:p>
            <a:pPr marL="0" indent="0">
              <a:buNone/>
            </a:pPr>
            <a:r>
              <a:rPr lang="vi-VN" sz="2400" smtClean="0">
                <a:latin typeface="Verdana" pitchFamily="34" charset="0"/>
                <a:ea typeface="Verdana" pitchFamily="34" charset="0"/>
                <a:cs typeface="Verdana" pitchFamily="34" charset="0"/>
              </a:rPr>
              <a:t>Nó </a:t>
            </a:r>
            <a:r>
              <a:rPr lang="vi-VN" sz="2400" b="1">
                <a:latin typeface="Verdana" pitchFamily="34" charset="0"/>
                <a:ea typeface="Verdana" pitchFamily="34" charset="0"/>
                <a:cs typeface="Verdana" pitchFamily="34" charset="0"/>
              </a:rPr>
              <a:t>định ra một quy định cơ bản</a:t>
            </a:r>
            <a:r>
              <a:rPr lang="vi-VN" sz="2400">
                <a:latin typeface="Verdana" pitchFamily="34" charset="0"/>
                <a:ea typeface="Verdana" pitchFamily="34" charset="0"/>
                <a:cs typeface="Verdana" pitchFamily="34" charset="0"/>
              </a:rPr>
              <a:t>, và yêu cầu bất kể một lớp nào, hoặc phương thức nào khi muốn làm việc với nó, thì buộc phải định nghĩa </a:t>
            </a:r>
            <a:r>
              <a:rPr lang="vi-VN" sz="2400" b="1">
                <a:latin typeface="Verdana" pitchFamily="34" charset="0"/>
                <a:ea typeface="Verdana" pitchFamily="34" charset="0"/>
                <a:cs typeface="Verdana" pitchFamily="34" charset="0"/>
              </a:rPr>
              <a:t>theo các quy tắc mà nó đã đặt ra</a:t>
            </a:r>
            <a:r>
              <a:rPr lang="vi-VN" sz="2400">
                <a:latin typeface="Verdana" pitchFamily="34" charset="0"/>
                <a:ea typeface="Verdana" pitchFamily="34" charset="0"/>
                <a:cs typeface="Verdana" pitchFamily="34" charset="0"/>
              </a:rPr>
              <a:t>. </a:t>
            </a:r>
            <a:endParaRPr lang="en-US" sz="2400" smtClean="0">
              <a:latin typeface="Verdana" pitchFamily="34" charset="0"/>
              <a:ea typeface="Verdana" pitchFamily="34" charset="0"/>
              <a:cs typeface="Verdana" pitchFamily="34" charset="0"/>
            </a:endParaRPr>
          </a:p>
          <a:p>
            <a:pPr marL="0" indent="0">
              <a:buNone/>
            </a:pPr>
            <a:endParaRPr lang="en-US" sz="2400" smtClean="0">
              <a:latin typeface="Verdana" pitchFamily="34" charset="0"/>
              <a:ea typeface="Verdana" pitchFamily="34" charset="0"/>
              <a:cs typeface="Verdana" pitchFamily="34" charset="0"/>
            </a:endParaRPr>
          </a:p>
          <a:p>
            <a:pPr marL="0" indent="0">
              <a:buNone/>
            </a:pPr>
            <a:r>
              <a:rPr lang="vi-VN" sz="2400" smtClean="0">
                <a:latin typeface="Verdana" pitchFamily="34" charset="0"/>
                <a:ea typeface="Verdana" pitchFamily="34" charset="0"/>
                <a:cs typeface="Verdana" pitchFamily="34" charset="0"/>
              </a:rPr>
              <a:t>Nhằm </a:t>
            </a:r>
            <a:r>
              <a:rPr lang="vi-VN" sz="2400">
                <a:latin typeface="Verdana" pitchFamily="34" charset="0"/>
                <a:ea typeface="Verdana" pitchFamily="34" charset="0"/>
                <a:cs typeface="Verdana" pitchFamily="34" charset="0"/>
              </a:rPr>
              <a:t>đảm bảo </a:t>
            </a:r>
            <a:r>
              <a:rPr lang="vi-VN" sz="2400" b="1">
                <a:latin typeface="Verdana" pitchFamily="34" charset="0"/>
                <a:ea typeface="Verdana" pitchFamily="34" charset="0"/>
                <a:cs typeface="Verdana" pitchFamily="34" charset="0"/>
              </a:rPr>
              <a:t>tính nhất quán</a:t>
            </a:r>
            <a:r>
              <a:rPr lang="vi-VN" sz="2400">
                <a:latin typeface="Verdana" pitchFamily="34" charset="0"/>
                <a:ea typeface="Verdana" pitchFamily="34" charset="0"/>
                <a:cs typeface="Verdana" pitchFamily="34" charset="0"/>
              </a:rPr>
              <a:t> và </a:t>
            </a:r>
            <a:r>
              <a:rPr lang="vi-VN" sz="2400" b="1">
                <a:latin typeface="Verdana" pitchFamily="34" charset="0"/>
                <a:ea typeface="Verdana" pitchFamily="34" charset="0"/>
                <a:cs typeface="Verdana" pitchFamily="34" charset="0"/>
              </a:rPr>
              <a:t>dễ kiểm soát</a:t>
            </a:r>
            <a:r>
              <a:rPr lang="vi-VN" sz="2400">
                <a:latin typeface="Verdana" pitchFamily="34" charset="0"/>
                <a:ea typeface="Verdana" pitchFamily="34" charset="0"/>
                <a:cs typeface="Verdana" pitchFamily="34" charset="0"/>
              </a:rPr>
              <a:t> mã nguồn hơn đối với các dự án có quy mô lớn và phức tạp.</a:t>
            </a:r>
            <a:endParaRPr lang="en-US" sz="240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11541252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solidFill>
                  <a:srgbClr val="C00000"/>
                </a:solidFill>
                <a:latin typeface="Verdana" pitchFamily="34" charset="0"/>
                <a:ea typeface="Verdana" pitchFamily="34" charset="0"/>
                <a:cs typeface="Verdana" pitchFamily="34" charset="0"/>
              </a:rPr>
              <a:t>Tính trừu tượng (abstraction)</a:t>
            </a:r>
            <a:endParaRPr lang="en-US">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normAutofit/>
          </a:bodyPr>
          <a:lstStyle/>
          <a:p>
            <a:pPr marL="0" indent="0">
              <a:buNone/>
            </a:pPr>
            <a:endParaRPr lang="en-US">
              <a:latin typeface="Verdana" pitchFamily="34" charset="0"/>
              <a:ea typeface="Verdana" pitchFamily="34" charset="0"/>
              <a:cs typeface="Verdana" pitchFamily="34"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362200"/>
            <a:ext cx="8439005"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53891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vi-VN" sz="2400">
                <a:solidFill>
                  <a:srgbClr val="C00000"/>
                </a:solidFill>
                <a:latin typeface="Verdana" pitchFamily="34" charset="0"/>
                <a:ea typeface="Verdana" pitchFamily="34" charset="0"/>
                <a:cs typeface="Verdana" pitchFamily="34" charset="0"/>
              </a:rPr>
              <a:t>Một ví dụ về việc sử dụng mô hình lớp trừu tượng</a:t>
            </a:r>
            <a:endParaRPr lang="en-US" sz="2400">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noAutofit/>
          </a:bodyPr>
          <a:lstStyle/>
          <a:p>
            <a:pPr marL="0" indent="0">
              <a:buNone/>
            </a:pPr>
            <a:r>
              <a:rPr lang="en-US" sz="1100">
                <a:latin typeface="Verdana" pitchFamily="34" charset="0"/>
                <a:ea typeface="Verdana" pitchFamily="34" charset="0"/>
                <a:cs typeface="Verdana" pitchFamily="34" charset="0"/>
              </a:rPr>
              <a:t>&lt;?</a:t>
            </a:r>
            <a:r>
              <a:rPr lang="en-US" sz="1100" err="1">
                <a:latin typeface="Verdana" pitchFamily="34" charset="0"/>
                <a:ea typeface="Verdana" pitchFamily="34" charset="0"/>
                <a:cs typeface="Verdana" pitchFamily="34" charset="0"/>
              </a:rPr>
              <a:t>php</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abstract class </a:t>
            </a:r>
            <a:r>
              <a:rPr lang="en-US" sz="1100" smtClean="0">
                <a:latin typeface="Verdana" pitchFamily="34" charset="0"/>
                <a:ea typeface="Verdana" pitchFamily="34" charset="0"/>
                <a:cs typeface="Verdana" pitchFamily="34" charset="0"/>
              </a:rPr>
              <a:t>employee {  </a:t>
            </a:r>
            <a:endParaRPr lang="en-US" sz="1100">
              <a:latin typeface="Verdana" pitchFamily="34" charset="0"/>
              <a:ea typeface="Verdana" pitchFamily="34" charset="0"/>
              <a:cs typeface="Verdana" pitchFamily="34" charset="0"/>
            </a:endParaRPr>
          </a:p>
          <a:p>
            <a:pPr marL="0" indent="0">
              <a:buNone/>
            </a:pPr>
            <a:r>
              <a:rPr lang="en-US" sz="1100">
                <a:latin typeface="Verdana" pitchFamily="34" charset="0"/>
                <a:ea typeface="Verdana" pitchFamily="34" charset="0"/>
                <a:cs typeface="Verdana" pitchFamily="34" charset="0"/>
              </a:rPr>
              <a:t>      protected $</a:t>
            </a:r>
            <a:r>
              <a:rPr lang="en-US" sz="1100" err="1">
                <a:latin typeface="Verdana" pitchFamily="34" charset="0"/>
                <a:ea typeface="Verdana" pitchFamily="34" charset="0"/>
                <a:cs typeface="Verdana" pitchFamily="34" charset="0"/>
              </a:rPr>
              <a:t>empname</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      protected $</a:t>
            </a:r>
            <a:r>
              <a:rPr lang="en-US" sz="1100" err="1">
                <a:latin typeface="Verdana" pitchFamily="34" charset="0"/>
                <a:ea typeface="Verdana" pitchFamily="34" charset="0"/>
                <a:cs typeface="Verdana" pitchFamily="34" charset="0"/>
              </a:rPr>
              <a:t>empage</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      public function </a:t>
            </a:r>
            <a:r>
              <a:rPr lang="en-US" sz="1100" err="1">
                <a:latin typeface="Verdana" pitchFamily="34" charset="0"/>
                <a:ea typeface="Verdana" pitchFamily="34" charset="0"/>
                <a:cs typeface="Verdana" pitchFamily="34" charset="0"/>
              </a:rPr>
              <a:t>setdata</a:t>
            </a:r>
            <a:r>
              <a:rPr lang="en-US" sz="1100">
                <a:latin typeface="Verdana" pitchFamily="34" charset="0"/>
                <a:ea typeface="Verdana" pitchFamily="34" charset="0"/>
                <a:cs typeface="Verdana" pitchFamily="34" charset="0"/>
              </a:rPr>
              <a:t>($</a:t>
            </a:r>
            <a:r>
              <a:rPr lang="en-US" sz="1100" err="1">
                <a:latin typeface="Verdana" pitchFamily="34" charset="0"/>
                <a:ea typeface="Verdana" pitchFamily="34" charset="0"/>
                <a:cs typeface="Verdana" pitchFamily="34" charset="0"/>
              </a:rPr>
              <a:t>empname</a:t>
            </a:r>
            <a:r>
              <a:rPr lang="en-US" sz="1100">
                <a:latin typeface="Verdana" pitchFamily="34" charset="0"/>
                <a:ea typeface="Verdana" pitchFamily="34" charset="0"/>
                <a:cs typeface="Verdana" pitchFamily="34" charset="0"/>
              </a:rPr>
              <a:t>,$</a:t>
            </a:r>
            <a:r>
              <a:rPr lang="en-US" sz="1100" err="1">
                <a:latin typeface="Verdana" pitchFamily="34" charset="0"/>
                <a:ea typeface="Verdana" pitchFamily="34" charset="0"/>
                <a:cs typeface="Verdana" pitchFamily="34" charset="0"/>
              </a:rPr>
              <a:t>empage</a:t>
            </a:r>
            <a:r>
              <a:rPr lang="en-US" sz="1100" smtClean="0">
                <a:latin typeface="Verdana" pitchFamily="34" charset="0"/>
                <a:ea typeface="Verdana" pitchFamily="34" charset="0"/>
                <a:cs typeface="Verdana" pitchFamily="34" charset="0"/>
              </a:rPr>
              <a:t>) {  </a:t>
            </a:r>
            <a:endParaRPr lang="en-US" sz="1100">
              <a:latin typeface="Verdana" pitchFamily="34" charset="0"/>
              <a:ea typeface="Verdana" pitchFamily="34" charset="0"/>
              <a:cs typeface="Verdana" pitchFamily="34" charset="0"/>
            </a:endParaRPr>
          </a:p>
          <a:p>
            <a:pPr marL="0" indent="0">
              <a:buNone/>
            </a:pPr>
            <a:r>
              <a:rPr lang="en-US" sz="1100">
                <a:latin typeface="Verdana" pitchFamily="34" charset="0"/>
                <a:ea typeface="Verdana" pitchFamily="34" charset="0"/>
                <a:cs typeface="Verdana" pitchFamily="34" charset="0"/>
              </a:rPr>
              <a:t>           $this-&gt;</a:t>
            </a:r>
            <a:r>
              <a:rPr lang="en-US" sz="1100" err="1">
                <a:latin typeface="Verdana" pitchFamily="34" charset="0"/>
                <a:ea typeface="Verdana" pitchFamily="34" charset="0"/>
                <a:cs typeface="Verdana" pitchFamily="34" charset="0"/>
              </a:rPr>
              <a:t>empname</a:t>
            </a:r>
            <a:r>
              <a:rPr lang="en-US" sz="1100">
                <a:latin typeface="Verdana" pitchFamily="34" charset="0"/>
                <a:ea typeface="Verdana" pitchFamily="34" charset="0"/>
                <a:cs typeface="Verdana" pitchFamily="34" charset="0"/>
              </a:rPr>
              <a:t> = $</a:t>
            </a:r>
            <a:r>
              <a:rPr lang="en-US" sz="1100" err="1">
                <a:latin typeface="Verdana" pitchFamily="34" charset="0"/>
                <a:ea typeface="Verdana" pitchFamily="34" charset="0"/>
                <a:cs typeface="Verdana" pitchFamily="34" charset="0"/>
              </a:rPr>
              <a:t>empname</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           $this-&gt;</a:t>
            </a:r>
            <a:r>
              <a:rPr lang="en-US" sz="1100" err="1">
                <a:latin typeface="Verdana" pitchFamily="34" charset="0"/>
                <a:ea typeface="Verdana" pitchFamily="34" charset="0"/>
                <a:cs typeface="Verdana" pitchFamily="34" charset="0"/>
              </a:rPr>
              <a:t>empage</a:t>
            </a:r>
            <a:r>
              <a:rPr lang="en-US" sz="1100">
                <a:latin typeface="Verdana" pitchFamily="34" charset="0"/>
                <a:ea typeface="Verdana" pitchFamily="34" charset="0"/>
                <a:cs typeface="Verdana" pitchFamily="34" charset="0"/>
              </a:rPr>
              <a:t> = $</a:t>
            </a:r>
            <a:r>
              <a:rPr lang="en-US" sz="1100" err="1">
                <a:latin typeface="Verdana" pitchFamily="34" charset="0"/>
                <a:ea typeface="Verdana" pitchFamily="34" charset="0"/>
                <a:cs typeface="Verdana" pitchFamily="34" charset="0"/>
              </a:rPr>
              <a:t>empage</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      }  </a:t>
            </a:r>
          </a:p>
          <a:p>
            <a:pPr marL="0" indent="0">
              <a:buNone/>
            </a:pPr>
            <a:r>
              <a:rPr lang="en-US" sz="1100">
                <a:latin typeface="Verdana" pitchFamily="34" charset="0"/>
                <a:ea typeface="Verdana" pitchFamily="34" charset="0"/>
                <a:cs typeface="Verdana" pitchFamily="34" charset="0"/>
              </a:rPr>
              <a:t>      abstract function </a:t>
            </a:r>
            <a:r>
              <a:rPr lang="en-US" sz="1100" err="1">
                <a:latin typeface="Verdana" pitchFamily="34" charset="0"/>
                <a:ea typeface="Verdana" pitchFamily="34" charset="0"/>
                <a:cs typeface="Verdana" pitchFamily="34" charset="0"/>
              </a:rPr>
              <a:t>outputData</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class </a:t>
            </a:r>
            <a:r>
              <a:rPr lang="en-US" sz="1100" err="1">
                <a:latin typeface="Verdana" pitchFamily="34" charset="0"/>
                <a:ea typeface="Verdana" pitchFamily="34" charset="0"/>
                <a:cs typeface="Verdana" pitchFamily="34" charset="0"/>
              </a:rPr>
              <a:t>EmployeeData</a:t>
            </a:r>
            <a:r>
              <a:rPr lang="en-US" sz="1100">
                <a:latin typeface="Verdana" pitchFamily="34" charset="0"/>
                <a:ea typeface="Verdana" pitchFamily="34" charset="0"/>
                <a:cs typeface="Verdana" pitchFamily="34" charset="0"/>
              </a:rPr>
              <a:t> extends </a:t>
            </a:r>
            <a:r>
              <a:rPr lang="en-US" sz="1100" smtClean="0">
                <a:latin typeface="Verdana" pitchFamily="34" charset="0"/>
                <a:ea typeface="Verdana" pitchFamily="34" charset="0"/>
                <a:cs typeface="Verdana" pitchFamily="34" charset="0"/>
              </a:rPr>
              <a:t>employee {  </a:t>
            </a:r>
            <a:endParaRPr lang="en-US" sz="1100">
              <a:latin typeface="Verdana" pitchFamily="34" charset="0"/>
              <a:ea typeface="Verdana" pitchFamily="34" charset="0"/>
              <a:cs typeface="Verdana" pitchFamily="34" charset="0"/>
            </a:endParaRPr>
          </a:p>
          <a:p>
            <a:pPr marL="0" indent="0">
              <a:buNone/>
            </a:pPr>
            <a:r>
              <a:rPr lang="en-US" sz="1100">
                <a:latin typeface="Verdana" pitchFamily="34" charset="0"/>
                <a:ea typeface="Verdana" pitchFamily="34" charset="0"/>
                <a:cs typeface="Verdana" pitchFamily="34" charset="0"/>
              </a:rPr>
              <a:t>       public function __construct($</a:t>
            </a:r>
            <a:r>
              <a:rPr lang="en-US" sz="1100" err="1">
                <a:latin typeface="Verdana" pitchFamily="34" charset="0"/>
                <a:ea typeface="Verdana" pitchFamily="34" charset="0"/>
                <a:cs typeface="Verdana" pitchFamily="34" charset="0"/>
              </a:rPr>
              <a:t>name,$age</a:t>
            </a:r>
            <a:r>
              <a:rPr lang="en-US" sz="1100" smtClean="0">
                <a:latin typeface="Verdana" pitchFamily="34" charset="0"/>
                <a:ea typeface="Verdana" pitchFamily="34" charset="0"/>
                <a:cs typeface="Verdana" pitchFamily="34" charset="0"/>
              </a:rPr>
              <a:t>) {  </a:t>
            </a:r>
            <a:endParaRPr lang="en-US" sz="1100">
              <a:latin typeface="Verdana" pitchFamily="34" charset="0"/>
              <a:ea typeface="Verdana" pitchFamily="34" charset="0"/>
              <a:cs typeface="Verdana" pitchFamily="34" charset="0"/>
            </a:endParaRPr>
          </a:p>
          <a:p>
            <a:pPr marL="0" indent="0">
              <a:buNone/>
            </a:pPr>
            <a:r>
              <a:rPr lang="en-US" sz="1100">
                <a:latin typeface="Verdana" pitchFamily="34" charset="0"/>
                <a:ea typeface="Verdana" pitchFamily="34" charset="0"/>
                <a:cs typeface="Verdana" pitchFamily="34" charset="0"/>
              </a:rPr>
              <a:t>            $this-&gt;</a:t>
            </a:r>
            <a:r>
              <a:rPr lang="en-US" sz="1100" err="1">
                <a:latin typeface="Verdana" pitchFamily="34" charset="0"/>
                <a:ea typeface="Verdana" pitchFamily="34" charset="0"/>
                <a:cs typeface="Verdana" pitchFamily="34" charset="0"/>
              </a:rPr>
              <a:t>setdata</a:t>
            </a:r>
            <a:r>
              <a:rPr lang="en-US" sz="1100">
                <a:latin typeface="Verdana" pitchFamily="34" charset="0"/>
                <a:ea typeface="Verdana" pitchFamily="34" charset="0"/>
                <a:cs typeface="Verdana" pitchFamily="34" charset="0"/>
              </a:rPr>
              <a:t>($</a:t>
            </a:r>
            <a:r>
              <a:rPr lang="en-US" sz="1100" err="1">
                <a:latin typeface="Verdana" pitchFamily="34" charset="0"/>
                <a:ea typeface="Verdana" pitchFamily="34" charset="0"/>
                <a:cs typeface="Verdana" pitchFamily="34" charset="0"/>
              </a:rPr>
              <a:t>name,$age</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       }  </a:t>
            </a:r>
          </a:p>
          <a:p>
            <a:pPr marL="0" indent="0">
              <a:buNone/>
            </a:pPr>
            <a:r>
              <a:rPr lang="en-US" sz="1100">
                <a:latin typeface="Verdana" pitchFamily="34" charset="0"/>
                <a:ea typeface="Verdana" pitchFamily="34" charset="0"/>
                <a:cs typeface="Verdana" pitchFamily="34" charset="0"/>
              </a:rPr>
              <a:t>       function </a:t>
            </a:r>
            <a:r>
              <a:rPr lang="en-US" sz="1100" err="1">
                <a:latin typeface="Verdana" pitchFamily="34" charset="0"/>
                <a:ea typeface="Verdana" pitchFamily="34" charset="0"/>
                <a:cs typeface="Verdana" pitchFamily="34" charset="0"/>
              </a:rPr>
              <a:t>outputData</a:t>
            </a:r>
            <a:r>
              <a:rPr lang="en-US" sz="1100" smtClean="0">
                <a:latin typeface="Verdana" pitchFamily="34" charset="0"/>
                <a:ea typeface="Verdana" pitchFamily="34" charset="0"/>
                <a:cs typeface="Verdana" pitchFamily="34" charset="0"/>
              </a:rPr>
              <a:t>() {  </a:t>
            </a:r>
            <a:endParaRPr lang="en-US" sz="1100">
              <a:latin typeface="Verdana" pitchFamily="34" charset="0"/>
              <a:ea typeface="Verdana" pitchFamily="34" charset="0"/>
              <a:cs typeface="Verdana" pitchFamily="34" charset="0"/>
            </a:endParaRPr>
          </a:p>
          <a:p>
            <a:pPr marL="0" indent="0">
              <a:buNone/>
            </a:pPr>
            <a:r>
              <a:rPr lang="en-US" sz="1100">
                <a:latin typeface="Verdana" pitchFamily="34" charset="0"/>
                <a:ea typeface="Verdana" pitchFamily="34" charset="0"/>
                <a:cs typeface="Verdana" pitchFamily="34" charset="0"/>
              </a:rPr>
              <a:t>            echo $this-&gt;</a:t>
            </a:r>
            <a:r>
              <a:rPr lang="en-US" sz="1100" err="1">
                <a:latin typeface="Verdana" pitchFamily="34" charset="0"/>
                <a:ea typeface="Verdana" pitchFamily="34" charset="0"/>
                <a:cs typeface="Verdana" pitchFamily="34" charset="0"/>
              </a:rPr>
              <a:t>empname</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            echo $this-&gt;</a:t>
            </a:r>
            <a:r>
              <a:rPr lang="en-US" sz="1100" err="1">
                <a:latin typeface="Verdana" pitchFamily="34" charset="0"/>
                <a:ea typeface="Verdana" pitchFamily="34" charset="0"/>
                <a:cs typeface="Verdana" pitchFamily="34" charset="0"/>
              </a:rPr>
              <a:t>empage</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       }  </a:t>
            </a:r>
          </a:p>
          <a:p>
            <a:pPr marL="0" indent="0">
              <a:buNone/>
            </a:pP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$a = new </a:t>
            </a:r>
            <a:r>
              <a:rPr lang="en-US" sz="1100" err="1">
                <a:latin typeface="Verdana" pitchFamily="34" charset="0"/>
                <a:ea typeface="Verdana" pitchFamily="34" charset="0"/>
                <a:cs typeface="Verdana" pitchFamily="34" charset="0"/>
              </a:rPr>
              <a:t>EmployeeData</a:t>
            </a:r>
            <a:r>
              <a:rPr lang="en-US" sz="1100">
                <a:latin typeface="Verdana" pitchFamily="34" charset="0"/>
                <a:ea typeface="Verdana" pitchFamily="34" charset="0"/>
                <a:cs typeface="Verdana" pitchFamily="34" charset="0"/>
              </a:rPr>
              <a:t>("HPB","3");  </a:t>
            </a:r>
          </a:p>
          <a:p>
            <a:pPr marL="0" indent="0">
              <a:buNone/>
            </a:pPr>
            <a:r>
              <a:rPr lang="en-US" sz="1100">
                <a:latin typeface="Verdana" pitchFamily="34" charset="0"/>
                <a:ea typeface="Verdana" pitchFamily="34" charset="0"/>
                <a:cs typeface="Verdana" pitchFamily="34" charset="0"/>
              </a:rPr>
              <a:t>$a-&gt;</a:t>
            </a:r>
            <a:r>
              <a:rPr lang="en-US" sz="1100" err="1">
                <a:latin typeface="Verdana" pitchFamily="34" charset="0"/>
                <a:ea typeface="Verdana" pitchFamily="34" charset="0"/>
                <a:cs typeface="Verdana" pitchFamily="34" charset="0"/>
              </a:rPr>
              <a:t>outputData</a:t>
            </a:r>
            <a:r>
              <a:rPr lang="en-US" sz="1100">
                <a:latin typeface="Verdana" pitchFamily="34" charset="0"/>
                <a:ea typeface="Verdana" pitchFamily="34" charset="0"/>
                <a:cs typeface="Verdana" pitchFamily="34" charset="0"/>
              </a:rPr>
              <a:t>();  </a:t>
            </a:r>
          </a:p>
          <a:p>
            <a:pPr marL="0" indent="0">
              <a:buNone/>
            </a:pPr>
            <a:r>
              <a:rPr lang="en-US" sz="1100">
                <a:latin typeface="Verdana" pitchFamily="34" charset="0"/>
                <a:ea typeface="Verdana" pitchFamily="34" charset="0"/>
                <a:cs typeface="Verdana" pitchFamily="34" charset="0"/>
              </a:rPr>
              <a:t>?&gt;</a:t>
            </a:r>
          </a:p>
        </p:txBody>
      </p:sp>
    </p:spTree>
    <p:extLst>
      <p:ext uri="{BB962C8B-B14F-4D97-AF65-F5344CB8AC3E}">
        <p14:creationId xmlns:p14="http://schemas.microsoft.com/office/powerpoint/2010/main" val="6383862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solidFill>
                  <a:srgbClr val="C00000"/>
                </a:solidFill>
                <a:latin typeface="Verdana" pitchFamily="34" charset="0"/>
                <a:ea typeface="Verdana" pitchFamily="34" charset="0"/>
                <a:cs typeface="Verdana" pitchFamily="34" charset="0"/>
              </a:rPr>
              <a:t>Tính đóng gói (encapsulation)</a:t>
            </a:r>
            <a:endParaRPr lang="en-US">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normAutofit/>
          </a:bodyPr>
          <a:lstStyle/>
          <a:p>
            <a:r>
              <a:rPr lang="vi-VN">
                <a:latin typeface="Verdana" pitchFamily="34" charset="0"/>
                <a:ea typeface="Verdana" pitchFamily="34" charset="0"/>
                <a:cs typeface="Verdana" pitchFamily="34" charset="0"/>
              </a:rPr>
              <a:t>Tính chất này </a:t>
            </a:r>
            <a:r>
              <a:rPr lang="vi-VN" b="1">
                <a:latin typeface="Verdana" pitchFamily="34" charset="0"/>
                <a:ea typeface="Verdana" pitchFamily="34" charset="0"/>
                <a:cs typeface="Verdana" pitchFamily="34" charset="0"/>
              </a:rPr>
              <a:t>không cho phép</a:t>
            </a:r>
            <a:r>
              <a:rPr lang="vi-VN">
                <a:latin typeface="Verdana" pitchFamily="34" charset="0"/>
                <a:ea typeface="Verdana" pitchFamily="34" charset="0"/>
                <a:cs typeface="Verdana" pitchFamily="34" charset="0"/>
              </a:rPr>
              <a:t> người sử dụng các đối tượng thay đổi trạng thái nội tại của một đối tượng. </a:t>
            </a:r>
            <a:r>
              <a:rPr lang="vi-VN" b="1">
                <a:latin typeface="Verdana" pitchFamily="34" charset="0"/>
                <a:ea typeface="Verdana" pitchFamily="34" charset="0"/>
                <a:cs typeface="Verdana" pitchFamily="34" charset="0"/>
              </a:rPr>
              <a:t>Chỉ có các phương thức nội tại của đối tượng cho phép thay đổi trạng thái của </a:t>
            </a:r>
            <a:r>
              <a:rPr lang="vi-VN" b="1" smtClean="0">
                <a:latin typeface="Verdana" pitchFamily="34" charset="0"/>
                <a:ea typeface="Verdana" pitchFamily="34" charset="0"/>
                <a:cs typeface="Verdana" pitchFamily="34" charset="0"/>
              </a:rPr>
              <a:t>nó</a:t>
            </a:r>
            <a:r>
              <a:rPr lang="en-US" b="1" smtClean="0">
                <a:latin typeface="Verdana" pitchFamily="34" charset="0"/>
                <a:ea typeface="Verdana" pitchFamily="34" charset="0"/>
                <a:cs typeface="Verdana" pitchFamily="34" charset="0"/>
              </a:rPr>
              <a:t>.</a:t>
            </a:r>
            <a:endParaRPr lang="vi-VN" b="1">
              <a:latin typeface="Verdana" pitchFamily="34" charset="0"/>
              <a:ea typeface="Verdana" pitchFamily="34" charset="0"/>
              <a:cs typeface="Verdana" pitchFamily="34" charset="0"/>
            </a:endParaRPr>
          </a:p>
          <a:p>
            <a:r>
              <a:rPr lang="vi-VN">
                <a:latin typeface="Verdana" pitchFamily="34" charset="0"/>
                <a:ea typeface="Verdana" pitchFamily="34" charset="0"/>
                <a:cs typeface="Verdana" pitchFamily="34" charset="0"/>
              </a:rPr>
              <a:t>Việc cho phép môi trường bên ngoài tác động lên các dữ liệu nội tại của một đối tượng theo cách nào là </a:t>
            </a:r>
            <a:r>
              <a:rPr lang="vi-VN" b="1">
                <a:latin typeface="Verdana" pitchFamily="34" charset="0"/>
                <a:ea typeface="Verdana" pitchFamily="34" charset="0"/>
                <a:cs typeface="Verdana" pitchFamily="34" charset="0"/>
              </a:rPr>
              <a:t>hoàn toàn tùy thuộc vào người viết mã</a:t>
            </a:r>
            <a:r>
              <a:rPr lang="vi-VN">
                <a:latin typeface="Verdana" pitchFamily="34" charset="0"/>
                <a:ea typeface="Verdana" pitchFamily="34" charset="0"/>
                <a:cs typeface="Verdana" pitchFamily="34" charset="0"/>
              </a:rPr>
              <a:t>. Đây là tính chất </a:t>
            </a:r>
            <a:r>
              <a:rPr lang="vi-VN" b="1">
                <a:latin typeface="Verdana" pitchFamily="34" charset="0"/>
                <a:ea typeface="Verdana" pitchFamily="34" charset="0"/>
                <a:cs typeface="Verdana" pitchFamily="34" charset="0"/>
              </a:rPr>
              <a:t>đảm bảo sự toàn vẹn của đối tượng.</a:t>
            </a:r>
            <a:endParaRPr lang="en-US" b="1">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476731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solidFill>
                  <a:srgbClr val="C00000"/>
                </a:solidFill>
                <a:latin typeface="Verdana" pitchFamily="34" charset="0"/>
                <a:ea typeface="Verdana" pitchFamily="34" charset="0"/>
                <a:cs typeface="Verdana" pitchFamily="34" charset="0"/>
              </a:rPr>
              <a:t>Tính đa hình (polymorphism)</a:t>
            </a:r>
            <a:endParaRPr lang="en-US">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noAutofit/>
          </a:bodyPr>
          <a:lstStyle/>
          <a:p>
            <a:r>
              <a:rPr lang="vi-VN" sz="1800">
                <a:latin typeface="Verdana" pitchFamily="34" charset="0"/>
                <a:ea typeface="Verdana" pitchFamily="34" charset="0"/>
                <a:cs typeface="Verdana" pitchFamily="34" charset="0"/>
              </a:rPr>
              <a:t>Thể hiện thông qua việc gửi các thông điệp (message). Việc gửi các thông điệp này có thể so sánh như việc gọi các hàm bên trong của một đối tượng. </a:t>
            </a:r>
          </a:p>
          <a:p>
            <a:r>
              <a:rPr lang="vi-VN" sz="1800">
                <a:latin typeface="Verdana" pitchFamily="34" charset="0"/>
                <a:ea typeface="Verdana" pitchFamily="34" charset="0"/>
                <a:cs typeface="Verdana" pitchFamily="34" charset="0"/>
              </a:rPr>
              <a:t>Các phương thức dùng trả lời cho một thông điệp sẽ tùy theo đối tượng mà thông điệp đó được gửi tới </a:t>
            </a:r>
            <a:r>
              <a:rPr lang="vi-VN" sz="1800" b="1">
                <a:latin typeface="Verdana" pitchFamily="34" charset="0"/>
                <a:ea typeface="Verdana" pitchFamily="34" charset="0"/>
                <a:cs typeface="Verdana" pitchFamily="34" charset="0"/>
              </a:rPr>
              <a:t>sẽ có phản ứng khác nhau</a:t>
            </a:r>
            <a:r>
              <a:rPr lang="vi-VN" sz="1800">
                <a:latin typeface="Verdana" pitchFamily="34" charset="0"/>
                <a:ea typeface="Verdana" pitchFamily="34" charset="0"/>
                <a:cs typeface="Verdana" pitchFamily="34" charset="0"/>
              </a:rPr>
              <a:t>. </a:t>
            </a:r>
          </a:p>
          <a:p>
            <a:r>
              <a:rPr lang="vi-VN" sz="1800">
                <a:latin typeface="Verdana" pitchFamily="34" charset="0"/>
                <a:ea typeface="Verdana" pitchFamily="34" charset="0"/>
                <a:cs typeface="Verdana" pitchFamily="34" charset="0"/>
              </a:rPr>
              <a:t>Người lập trình có thể định nghĩa một đặc tính (chẳng hạn thông qua tên của các phương thức) cho một loạt các đối tượng gần nhau nhưng khi thi hành thì dùng cùng một tên gọi mà sự thi hành của mỗi đối tượng sẽ tự động xảy ra tương ứng theo đặc tính của từng đối tượng mà không bị nhầm lẫn.</a:t>
            </a:r>
          </a:p>
          <a:p>
            <a:pPr marL="0" indent="0">
              <a:buNone/>
            </a:pPr>
            <a:endParaRPr lang="vi-VN" sz="1800">
              <a:latin typeface="Verdana" pitchFamily="34" charset="0"/>
              <a:ea typeface="Verdana" pitchFamily="34" charset="0"/>
              <a:cs typeface="Verdana" pitchFamily="34" charset="0"/>
            </a:endParaRPr>
          </a:p>
          <a:p>
            <a:pPr marL="0" indent="0">
              <a:buNone/>
            </a:pPr>
            <a:r>
              <a:rPr lang="vi-VN" sz="1800">
                <a:latin typeface="Verdana" pitchFamily="34" charset="0"/>
                <a:ea typeface="Verdana" pitchFamily="34" charset="0"/>
                <a:cs typeface="Verdana" pitchFamily="34" charset="0"/>
              </a:rPr>
              <a:t>Ví dụ:khi định nghĩa hai đối tượng "hinh_vuong" và "hinh_tron" thì có một phương thức chung là "chu_vi". Khi gọi phương thức này thì nếu đối tượng là "hinh_vuong" nó sẽ tính theo công thức khác với khi đối tượng là "hinh_tron".</a:t>
            </a:r>
            <a:endParaRPr lang="en-US" sz="180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4051526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solidFill>
                  <a:srgbClr val="C00000"/>
                </a:solidFill>
                <a:latin typeface="Verdana" pitchFamily="34" charset="0"/>
                <a:ea typeface="Verdana" pitchFamily="34" charset="0"/>
                <a:cs typeface="Verdana" pitchFamily="34" charset="0"/>
              </a:rPr>
              <a:t>Tính</a:t>
            </a:r>
            <a:r>
              <a:rPr lang="en-US">
                <a:solidFill>
                  <a:srgbClr val="C00000"/>
                </a:solidFill>
                <a:latin typeface="Verdana" pitchFamily="34" charset="0"/>
                <a:ea typeface="Verdana" pitchFamily="34" charset="0"/>
                <a:cs typeface="Verdana" pitchFamily="34" charset="0"/>
              </a:rPr>
              <a:t> </a:t>
            </a:r>
            <a:r>
              <a:rPr lang="en-US" err="1">
                <a:solidFill>
                  <a:srgbClr val="C00000"/>
                </a:solidFill>
                <a:latin typeface="Verdana" pitchFamily="34" charset="0"/>
                <a:ea typeface="Verdana" pitchFamily="34" charset="0"/>
                <a:cs typeface="Verdana" pitchFamily="34" charset="0"/>
              </a:rPr>
              <a:t>kế</a:t>
            </a:r>
            <a:r>
              <a:rPr lang="en-US">
                <a:solidFill>
                  <a:srgbClr val="C00000"/>
                </a:solidFill>
                <a:latin typeface="Verdana" pitchFamily="34" charset="0"/>
                <a:ea typeface="Verdana" pitchFamily="34" charset="0"/>
                <a:cs typeface="Verdana" pitchFamily="34" charset="0"/>
              </a:rPr>
              <a:t> </a:t>
            </a:r>
            <a:r>
              <a:rPr lang="en-US" err="1">
                <a:solidFill>
                  <a:srgbClr val="C00000"/>
                </a:solidFill>
                <a:latin typeface="Verdana" pitchFamily="34" charset="0"/>
                <a:ea typeface="Verdana" pitchFamily="34" charset="0"/>
                <a:cs typeface="Verdana" pitchFamily="34" charset="0"/>
              </a:rPr>
              <a:t>thừa</a:t>
            </a:r>
            <a:r>
              <a:rPr lang="en-US">
                <a:solidFill>
                  <a:srgbClr val="C00000"/>
                </a:solidFill>
                <a:latin typeface="Verdana" pitchFamily="34" charset="0"/>
                <a:ea typeface="Verdana" pitchFamily="34" charset="0"/>
                <a:cs typeface="Verdana" pitchFamily="34" charset="0"/>
              </a:rPr>
              <a:t> (inheritance)</a:t>
            </a:r>
          </a:p>
        </p:txBody>
      </p:sp>
      <p:sp>
        <p:nvSpPr>
          <p:cNvPr id="3" name="Content Placeholder 2"/>
          <p:cNvSpPr>
            <a:spLocks noGrp="1"/>
          </p:cNvSpPr>
          <p:nvPr>
            <p:ph sz="quarter" idx="1"/>
          </p:nvPr>
        </p:nvSpPr>
        <p:spPr/>
        <p:txBody>
          <a:bodyPr>
            <a:normAutofit lnSpcReduction="10000"/>
          </a:bodyPr>
          <a:lstStyle/>
          <a:p>
            <a:r>
              <a:rPr lang="vi-VN">
                <a:latin typeface="Verdana" pitchFamily="34" charset="0"/>
                <a:ea typeface="Verdana" pitchFamily="34" charset="0"/>
                <a:cs typeface="Verdana" pitchFamily="34" charset="0"/>
              </a:rPr>
              <a:t>Tính kế thừa là khả năng cho phép ta xây dựng một lớp mới dựa trên các định nghĩa của một lớp đã có. </a:t>
            </a:r>
            <a:endParaRPr lang="en-US" smtClean="0">
              <a:latin typeface="Verdana" pitchFamily="34" charset="0"/>
              <a:ea typeface="Verdana" pitchFamily="34" charset="0"/>
              <a:cs typeface="Verdana" pitchFamily="34" charset="0"/>
            </a:endParaRPr>
          </a:p>
          <a:p>
            <a:endParaRPr lang="vi-VN">
              <a:latin typeface="Verdana" pitchFamily="34" charset="0"/>
              <a:ea typeface="Verdana" pitchFamily="34" charset="0"/>
              <a:cs typeface="Verdana" pitchFamily="34" charset="0"/>
            </a:endParaRPr>
          </a:p>
          <a:p>
            <a:r>
              <a:rPr lang="vi-VN">
                <a:latin typeface="Verdana" pitchFamily="34" charset="0"/>
                <a:ea typeface="Verdana" pitchFamily="34" charset="0"/>
                <a:cs typeface="Verdana" pitchFamily="34" charset="0"/>
              </a:rPr>
              <a:t>Lớp đã có gọi là lớp Cha, lớp mới phát sinh gọi là lớp Con và đương nhiên kế thừa tất cả các thành phần của lớp Cha, </a:t>
            </a:r>
            <a:endParaRPr lang="en-US" smtClean="0">
              <a:latin typeface="Verdana" pitchFamily="34" charset="0"/>
              <a:ea typeface="Verdana" pitchFamily="34" charset="0"/>
              <a:cs typeface="Verdana" pitchFamily="34" charset="0"/>
            </a:endParaRPr>
          </a:p>
          <a:p>
            <a:endParaRPr lang="vi-VN">
              <a:latin typeface="Verdana" pitchFamily="34" charset="0"/>
              <a:ea typeface="Verdana" pitchFamily="34" charset="0"/>
              <a:cs typeface="Verdana" pitchFamily="34" charset="0"/>
            </a:endParaRPr>
          </a:p>
          <a:p>
            <a:r>
              <a:rPr lang="en-US">
                <a:latin typeface="Verdana" pitchFamily="34" charset="0"/>
                <a:ea typeface="Verdana" pitchFamily="34" charset="0"/>
                <a:cs typeface="Verdana" pitchFamily="34" charset="0"/>
              </a:rPr>
              <a:t>C</a:t>
            </a:r>
            <a:r>
              <a:rPr lang="vi-VN" smtClean="0">
                <a:latin typeface="Verdana" pitchFamily="34" charset="0"/>
                <a:ea typeface="Verdana" pitchFamily="34" charset="0"/>
                <a:cs typeface="Verdana" pitchFamily="34" charset="0"/>
              </a:rPr>
              <a:t>ó </a:t>
            </a:r>
            <a:r>
              <a:rPr lang="vi-VN">
                <a:latin typeface="Verdana" pitchFamily="34" charset="0"/>
                <a:ea typeface="Verdana" pitchFamily="34" charset="0"/>
                <a:cs typeface="Verdana" pitchFamily="34" charset="0"/>
              </a:rPr>
              <a:t>thể mở rộng công năng các thành phần kế thừa cũng như bổ sung thêm các thành phần mới.</a:t>
            </a:r>
            <a:endParaRPr lang="en-US">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8258439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vi-VN" sz="2400">
                <a:solidFill>
                  <a:srgbClr val="C00000"/>
                </a:solidFill>
                <a:latin typeface="Verdana" pitchFamily="34" charset="0"/>
                <a:ea typeface="Verdana" pitchFamily="34" charset="0"/>
                <a:cs typeface="Verdana" pitchFamily="34" charset="0"/>
              </a:rPr>
              <a:t>Một số khái niệm </a:t>
            </a:r>
            <a:r>
              <a:rPr lang="vi-VN" sz="2400" smtClean="0">
                <a:solidFill>
                  <a:srgbClr val="C00000"/>
                </a:solidFill>
                <a:latin typeface="Verdana" pitchFamily="34" charset="0"/>
                <a:ea typeface="Verdana" pitchFamily="34" charset="0"/>
                <a:cs typeface="Verdana" pitchFamily="34" charset="0"/>
              </a:rPr>
              <a:t>trong </a:t>
            </a:r>
            <a:r>
              <a:rPr lang="vi-VN" sz="2400">
                <a:solidFill>
                  <a:srgbClr val="C00000"/>
                </a:solidFill>
                <a:latin typeface="Verdana" pitchFamily="34" charset="0"/>
                <a:ea typeface="Verdana" pitchFamily="34" charset="0"/>
                <a:cs typeface="Verdana" pitchFamily="34" charset="0"/>
              </a:rPr>
              <a:t>ngôn ngữ OOP hiện đại</a:t>
            </a:r>
            <a:endParaRPr lang="en-US" sz="2400">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normAutofit/>
          </a:bodyPr>
          <a:lstStyle/>
          <a:p>
            <a:endParaRPr lang="en-US" smtClean="0">
              <a:latin typeface="Verdana" pitchFamily="34" charset="0"/>
              <a:ea typeface="Verdana" pitchFamily="34" charset="0"/>
              <a:cs typeface="Verdana" pitchFamily="34" charset="0"/>
            </a:endParaRPr>
          </a:p>
          <a:p>
            <a:r>
              <a:rPr lang="vi-VN" smtClean="0">
                <a:latin typeface="Verdana" pitchFamily="34" charset="0"/>
                <a:ea typeface="Verdana" pitchFamily="34" charset="0"/>
                <a:cs typeface="Verdana" pitchFamily="34" charset="0"/>
              </a:rPr>
              <a:t>Lớp </a:t>
            </a:r>
            <a:r>
              <a:rPr lang="vi-VN">
                <a:latin typeface="Verdana" pitchFamily="34" charset="0"/>
                <a:ea typeface="Verdana" pitchFamily="34" charset="0"/>
                <a:cs typeface="Verdana" pitchFamily="34" charset="0"/>
              </a:rPr>
              <a:t>(class)</a:t>
            </a:r>
          </a:p>
          <a:p>
            <a:r>
              <a:rPr lang="vi-VN">
                <a:latin typeface="Verdana" pitchFamily="34" charset="0"/>
                <a:ea typeface="Verdana" pitchFamily="34" charset="0"/>
                <a:cs typeface="Verdana" pitchFamily="34" charset="0"/>
              </a:rPr>
              <a:t>Lớp con (subclass)</a:t>
            </a:r>
          </a:p>
          <a:p>
            <a:r>
              <a:rPr lang="vi-VN">
                <a:latin typeface="Verdana" pitchFamily="34" charset="0"/>
                <a:ea typeface="Verdana" pitchFamily="34" charset="0"/>
                <a:cs typeface="Verdana" pitchFamily="34" charset="0"/>
              </a:rPr>
              <a:t>Lớp trừu tượng </a:t>
            </a:r>
            <a:r>
              <a:rPr lang="vi-VN" smtClean="0">
                <a:latin typeface="Verdana" pitchFamily="34" charset="0"/>
                <a:ea typeface="Verdana" pitchFamily="34" charset="0"/>
                <a:cs typeface="Verdana" pitchFamily="34" charset="0"/>
              </a:rPr>
              <a:t>(</a:t>
            </a:r>
            <a:r>
              <a:rPr lang="vi-VN">
                <a:latin typeface="Verdana" pitchFamily="34" charset="0"/>
                <a:ea typeface="Verdana" pitchFamily="34" charset="0"/>
                <a:cs typeface="Verdana" pitchFamily="34" charset="0"/>
              </a:rPr>
              <a:t>abstract class</a:t>
            </a:r>
            <a:r>
              <a:rPr lang="vi-VN" smtClean="0">
                <a:latin typeface="Verdana" pitchFamily="34" charset="0"/>
                <a:ea typeface="Verdana" pitchFamily="34" charset="0"/>
                <a:cs typeface="Verdana" pitchFamily="34" charset="0"/>
              </a:rPr>
              <a:t>)</a:t>
            </a:r>
            <a:endParaRPr lang="en-US" smtClean="0">
              <a:latin typeface="Verdana" pitchFamily="34" charset="0"/>
              <a:ea typeface="Verdana" pitchFamily="34" charset="0"/>
              <a:cs typeface="Verdana" pitchFamily="34" charset="0"/>
            </a:endParaRPr>
          </a:p>
          <a:p>
            <a:r>
              <a:rPr lang="en-US" b="1" smtClean="0">
                <a:latin typeface="Verdana" pitchFamily="34" charset="0"/>
                <a:ea typeface="Verdana" pitchFamily="34" charset="0"/>
                <a:cs typeface="Verdana" pitchFamily="34" charset="0"/>
              </a:rPr>
              <a:t>Interface</a:t>
            </a:r>
            <a:endParaRPr lang="vi-VN" b="1">
              <a:latin typeface="Verdana" pitchFamily="34" charset="0"/>
              <a:ea typeface="Verdana" pitchFamily="34" charset="0"/>
              <a:cs typeface="Verdana" pitchFamily="34" charset="0"/>
            </a:endParaRPr>
          </a:p>
          <a:p>
            <a:r>
              <a:rPr lang="vi-VN">
                <a:latin typeface="Verdana" pitchFamily="34" charset="0"/>
                <a:ea typeface="Verdana" pitchFamily="34" charset="0"/>
                <a:cs typeface="Verdana" pitchFamily="34" charset="0"/>
              </a:rPr>
              <a:t>Phương thức (method)</a:t>
            </a:r>
          </a:p>
          <a:p>
            <a:r>
              <a:rPr lang="vi-VN">
                <a:latin typeface="Verdana" pitchFamily="34" charset="0"/>
                <a:ea typeface="Verdana" pitchFamily="34" charset="0"/>
                <a:cs typeface="Verdana" pitchFamily="34" charset="0"/>
              </a:rPr>
              <a:t>Thuộc tính (attribute)</a:t>
            </a:r>
          </a:p>
          <a:p>
            <a:r>
              <a:rPr lang="vi-VN">
                <a:latin typeface="Verdana" pitchFamily="34" charset="0"/>
                <a:ea typeface="Verdana" pitchFamily="34" charset="0"/>
                <a:cs typeface="Verdana" pitchFamily="34" charset="0"/>
              </a:rPr>
              <a:t>Quan hệ giữa lớp và đối tượng</a:t>
            </a:r>
          </a:p>
          <a:p>
            <a:r>
              <a:rPr lang="vi-VN">
                <a:latin typeface="Verdana" pitchFamily="34" charset="0"/>
                <a:ea typeface="Verdana" pitchFamily="34" charset="0"/>
                <a:cs typeface="Verdana" pitchFamily="34" charset="0"/>
              </a:rPr>
              <a:t>Thực thể (instance</a:t>
            </a:r>
            <a:r>
              <a:rPr lang="vi-VN" smtClean="0">
                <a:latin typeface="Verdana" pitchFamily="34" charset="0"/>
                <a:ea typeface="Verdana" pitchFamily="34" charset="0"/>
                <a:cs typeface="Verdana" pitchFamily="34" charset="0"/>
              </a:rPr>
              <a:t>)</a:t>
            </a:r>
            <a:endParaRPr lang="en-US">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981613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2400">
                <a:solidFill>
                  <a:srgbClr val="C00000"/>
                </a:solidFill>
                <a:latin typeface="Verdana" pitchFamily="34" charset="0"/>
                <a:ea typeface="Verdana" pitchFamily="34" charset="0"/>
                <a:cs typeface="Verdana" pitchFamily="34" charset="0"/>
              </a:rPr>
              <a:t>Một số khái niệm trong ngôn ngữ OOP hiện đại</a:t>
            </a:r>
            <a:endParaRPr lang="en-US" sz="2400">
              <a:solidFill>
                <a:srgbClr val="C00000"/>
              </a:solidFill>
              <a:latin typeface="Verdana" pitchFamily="34" charset="0"/>
              <a:ea typeface="Verdana" pitchFamily="34" charset="0"/>
              <a:cs typeface="Verdana" pitchFamily="34" charset="0"/>
            </a:endParaRPr>
          </a:p>
        </p:txBody>
      </p:sp>
      <p:sp>
        <p:nvSpPr>
          <p:cNvPr id="3" name="Content Placeholder 2"/>
          <p:cNvSpPr>
            <a:spLocks noGrp="1"/>
          </p:cNvSpPr>
          <p:nvPr>
            <p:ph sz="quarter" idx="1"/>
          </p:nvPr>
        </p:nvSpPr>
        <p:spPr/>
        <p:txBody>
          <a:bodyPr>
            <a:normAutofit/>
          </a:bodyPr>
          <a:lstStyle/>
          <a:p>
            <a:endParaRPr lang="en-US" smtClean="0">
              <a:latin typeface="Verdana" pitchFamily="34" charset="0"/>
              <a:ea typeface="Verdana" pitchFamily="34" charset="0"/>
              <a:cs typeface="Verdana" pitchFamily="34" charset="0"/>
            </a:endParaRPr>
          </a:p>
          <a:p>
            <a:r>
              <a:rPr lang="vi-VN" smtClean="0">
                <a:latin typeface="Verdana" pitchFamily="34" charset="0"/>
                <a:ea typeface="Verdana" pitchFamily="34" charset="0"/>
                <a:cs typeface="Verdana" pitchFamily="34" charset="0"/>
              </a:rPr>
              <a:t>Công </a:t>
            </a:r>
            <a:r>
              <a:rPr lang="vi-VN">
                <a:latin typeface="Verdana" pitchFamily="34" charset="0"/>
                <a:ea typeface="Verdana" pitchFamily="34" charset="0"/>
                <a:cs typeface="Verdana" pitchFamily="34" charset="0"/>
              </a:rPr>
              <a:t>cộng (public)</a:t>
            </a:r>
          </a:p>
          <a:p>
            <a:r>
              <a:rPr lang="vi-VN">
                <a:latin typeface="Verdana" pitchFamily="34" charset="0"/>
                <a:ea typeface="Verdana" pitchFamily="34" charset="0"/>
                <a:cs typeface="Verdana" pitchFamily="34" charset="0"/>
              </a:rPr>
              <a:t>Riêng tư (private)</a:t>
            </a:r>
          </a:p>
          <a:p>
            <a:r>
              <a:rPr lang="vi-VN">
                <a:latin typeface="Verdana" pitchFamily="34" charset="0"/>
                <a:ea typeface="Verdana" pitchFamily="34" charset="0"/>
                <a:cs typeface="Verdana" pitchFamily="34" charset="0"/>
              </a:rPr>
              <a:t>Bảo tồn (protected)</a:t>
            </a:r>
          </a:p>
          <a:p>
            <a:r>
              <a:rPr lang="vi-VN">
                <a:latin typeface="Verdana" pitchFamily="34" charset="0"/>
                <a:ea typeface="Verdana" pitchFamily="34" charset="0"/>
                <a:cs typeface="Verdana" pitchFamily="34" charset="0"/>
              </a:rPr>
              <a:t>Đa kế thừa (multiple inheritance)</a:t>
            </a:r>
            <a:endParaRPr lang="en-US">
              <a:latin typeface="Verdana" pitchFamily="34" charset="0"/>
              <a:ea typeface="Verdana" pitchFamily="34" charset="0"/>
              <a:cs typeface="Verdana" pitchFamily="34" charset="0"/>
            </a:endParaRPr>
          </a:p>
          <a:p>
            <a:r>
              <a:rPr lang="en-US" err="1">
                <a:latin typeface="Verdana" pitchFamily="34" charset="0"/>
                <a:ea typeface="Verdana" pitchFamily="34" charset="0"/>
                <a:cs typeface="Verdana" pitchFamily="34" charset="0"/>
              </a:rPr>
              <a:t>Kết</a:t>
            </a:r>
            <a:r>
              <a:rPr lang="en-US">
                <a:latin typeface="Verdana" pitchFamily="34" charset="0"/>
                <a:ea typeface="Verdana" pitchFamily="34" charset="0"/>
                <a:cs typeface="Verdana" pitchFamily="34" charset="0"/>
              </a:rPr>
              <a:t> </a:t>
            </a:r>
            <a:r>
              <a:rPr lang="en-US" err="1">
                <a:latin typeface="Verdana" pitchFamily="34" charset="0"/>
                <a:ea typeface="Verdana" pitchFamily="34" charset="0"/>
                <a:cs typeface="Verdana" pitchFamily="34" charset="0"/>
              </a:rPr>
              <a:t>nối</a:t>
            </a:r>
            <a:r>
              <a:rPr lang="en-US">
                <a:latin typeface="Verdana" pitchFamily="34" charset="0"/>
                <a:ea typeface="Verdana" pitchFamily="34" charset="0"/>
                <a:cs typeface="Verdana" pitchFamily="34" charset="0"/>
              </a:rPr>
              <a:t> </a:t>
            </a:r>
            <a:r>
              <a:rPr lang="en-US" err="1">
                <a:latin typeface="Verdana" pitchFamily="34" charset="0"/>
                <a:ea typeface="Verdana" pitchFamily="34" charset="0"/>
                <a:cs typeface="Verdana" pitchFamily="34" charset="0"/>
              </a:rPr>
              <a:t>trễ</a:t>
            </a:r>
            <a:r>
              <a:rPr lang="en-US">
                <a:latin typeface="Verdana" pitchFamily="34" charset="0"/>
                <a:ea typeface="Verdana" pitchFamily="34" charset="0"/>
                <a:cs typeface="Verdana" pitchFamily="34" charset="0"/>
              </a:rPr>
              <a:t> - Late Binding</a:t>
            </a:r>
          </a:p>
          <a:p>
            <a:r>
              <a:rPr lang="en-US" err="1">
                <a:latin typeface="Verdana" pitchFamily="34" charset="0"/>
                <a:ea typeface="Verdana" pitchFamily="34" charset="0"/>
                <a:cs typeface="Verdana" pitchFamily="34" charset="0"/>
              </a:rPr>
              <a:t>Nạp</a:t>
            </a:r>
            <a:r>
              <a:rPr lang="en-US">
                <a:latin typeface="Verdana" pitchFamily="34" charset="0"/>
                <a:ea typeface="Verdana" pitchFamily="34" charset="0"/>
                <a:cs typeface="Verdana" pitchFamily="34" charset="0"/>
              </a:rPr>
              <a:t> </a:t>
            </a:r>
            <a:r>
              <a:rPr lang="en-US" err="1">
                <a:latin typeface="Verdana" pitchFamily="34" charset="0"/>
                <a:ea typeface="Verdana" pitchFamily="34" charset="0"/>
                <a:cs typeface="Verdana" pitchFamily="34" charset="0"/>
              </a:rPr>
              <a:t>chồng</a:t>
            </a:r>
            <a:r>
              <a:rPr lang="en-US">
                <a:latin typeface="Verdana" pitchFamily="34" charset="0"/>
                <a:ea typeface="Verdana" pitchFamily="34" charset="0"/>
                <a:cs typeface="Verdana" pitchFamily="34" charset="0"/>
              </a:rPr>
              <a:t> – </a:t>
            </a:r>
            <a:r>
              <a:rPr lang="en-US" b="1">
                <a:latin typeface="Verdana" pitchFamily="34" charset="0"/>
                <a:ea typeface="Verdana" pitchFamily="34" charset="0"/>
                <a:cs typeface="Verdana" pitchFamily="34" charset="0"/>
              </a:rPr>
              <a:t>Overloading</a:t>
            </a:r>
          </a:p>
          <a:p>
            <a:r>
              <a:rPr lang="en-US" err="1">
                <a:latin typeface="Verdana" pitchFamily="34" charset="0"/>
                <a:ea typeface="Verdana" pitchFamily="34" charset="0"/>
                <a:cs typeface="Verdana" pitchFamily="34" charset="0"/>
              </a:rPr>
              <a:t>Ghi</a:t>
            </a:r>
            <a:r>
              <a:rPr lang="en-US">
                <a:latin typeface="Verdana" pitchFamily="34" charset="0"/>
                <a:ea typeface="Verdana" pitchFamily="34" charset="0"/>
                <a:cs typeface="Verdana" pitchFamily="34" charset="0"/>
              </a:rPr>
              <a:t> </a:t>
            </a:r>
            <a:r>
              <a:rPr lang="en-US" err="1">
                <a:latin typeface="Verdana" pitchFamily="34" charset="0"/>
                <a:ea typeface="Verdana" pitchFamily="34" charset="0"/>
                <a:cs typeface="Verdana" pitchFamily="34" charset="0"/>
              </a:rPr>
              <a:t>chồng</a:t>
            </a:r>
            <a:r>
              <a:rPr lang="en-US">
                <a:latin typeface="Verdana" pitchFamily="34" charset="0"/>
                <a:ea typeface="Verdana" pitchFamily="34" charset="0"/>
                <a:cs typeface="Verdana" pitchFamily="34" charset="0"/>
              </a:rPr>
              <a:t> – </a:t>
            </a:r>
            <a:r>
              <a:rPr lang="en-US" b="1">
                <a:latin typeface="Verdana" pitchFamily="34" charset="0"/>
                <a:ea typeface="Verdana" pitchFamily="34" charset="0"/>
                <a:cs typeface="Verdana" pitchFamily="34" charset="0"/>
              </a:rPr>
              <a:t>Overriding</a:t>
            </a:r>
          </a:p>
          <a:p>
            <a:endParaRPr lang="en-US" b="1">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98734976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153</TotalTime>
  <Words>925</Words>
  <Application>Microsoft Office PowerPoint</Application>
  <PresentationFormat>On-screen Show (4:3)</PresentationFormat>
  <Paragraphs>91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Civic</vt:lpstr>
      <vt:lpstr>Lập trình hướng đối tượng (object-oriented programming)</vt:lpstr>
      <vt:lpstr>Tóm tắt nội dung</vt:lpstr>
      <vt:lpstr>Khái niệm</vt:lpstr>
      <vt:lpstr>Các tính chất cơ bản</vt:lpstr>
      <vt:lpstr>Tính trừu tượng (abstraction)</vt:lpstr>
      <vt:lpstr>Tính trừu tượng (abstraction)</vt:lpstr>
      <vt:lpstr>Một ví dụ về việc sử dụng mô hình lớp trừu tượng</vt:lpstr>
      <vt:lpstr>Tính đóng gói (encapsulation)</vt:lpstr>
      <vt:lpstr>Tính đa hình (polymorphism)</vt:lpstr>
      <vt:lpstr>Tính kế thừa (inheritance)</vt:lpstr>
      <vt:lpstr>Một số khái niệm trong ngôn ngữ OOP hiện đại</vt:lpstr>
      <vt:lpstr>Một số khái niệm trong ngôn ngữ OOP hiện đại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hướng đối tượng (object-oriented programming)</dc:title>
  <dc:creator>THINH</dc:creator>
  <cp:lastModifiedBy>THINH</cp:lastModifiedBy>
  <cp:revision>44</cp:revision>
  <dcterms:created xsi:type="dcterms:W3CDTF">2016-05-26T06:42:36Z</dcterms:created>
  <dcterms:modified xsi:type="dcterms:W3CDTF">2016-06-15T03:36:33Z</dcterms:modified>
</cp:coreProperties>
</file>